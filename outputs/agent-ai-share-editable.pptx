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6"/>
    <p:restoredTop sz="94707"/>
  </p:normalViewPr>
  <p:slideViewPr>
    <p:cSldViewPr snapToGrid="0" snapToObjects="1">
      <p:cViewPr varScale="1">
        <p:scale>
          <a:sx n="148" d="100"/>
          <a:sy n="148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E61468E-8FAF-4AFA-A431-64D90007C4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9B4BD8-7BF2-47B6-9506-18C5E10DD3B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5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5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原理科普分享 + AI 工具使用分享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663326-39AF-4191-A756-478ACB4CA0EF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本次分享不讲模型训练细节，重点讲 Agent 怎么运行，以及普通工作如何开始使用 AI。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A3307B-2464-42EF-BDC3-50D8E58E155B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1314450" cy="704850"/>
          </a:xfrm>
          <a:prstGeom prst="roundRect">
            <a:avLst>
              <a:gd name="adj" fmla="val 10811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2290E0-0622-4844-B3F9-FBE8D64A3DC2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1FE9EC-E24C-4899-8BDF-8D1A48B57F8B}"/>
              </a:ext>
            </a:extLst>
          </p:cNvPr>
          <p:cNvSpPr>
            <a:spLocks noGrp="1"/>
          </p:cNvSpPr>
          <p:nvPr/>
        </p:nvSpPr>
        <p:spPr>
          <a:xfrm>
            <a:off x="1104900" y="31623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是什么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262E73-349C-43BE-B616-3585C5D8DA2E}"/>
              </a:ext>
            </a:extLst>
          </p:cNvPr>
          <p:cNvSpPr>
            <a:spLocks noGrp="1"/>
          </p:cNvSpPr>
          <p:nvPr/>
        </p:nvSpPr>
        <p:spPr>
          <a:xfrm>
            <a:off x="1009650" y="3448050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建立认知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2D117AA-7736-4F2C-90F9-2D7948B39A2B}"/>
              </a:ext>
            </a:extLst>
          </p:cNvPr>
          <p:cNvSpPr>
            <a:spLocks noGrp="1"/>
          </p:cNvSpPr>
          <p:nvPr/>
        </p:nvSpPr>
        <p:spPr>
          <a:xfrm>
            <a:off x="2495550" y="3067050"/>
            <a:ext cx="1314450" cy="704850"/>
          </a:xfrm>
          <a:prstGeom prst="roundRect">
            <a:avLst>
              <a:gd name="adj" fmla="val 10811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903BDC-A8C0-4838-83B2-CB2974AFDDF0}"/>
              </a:ext>
            </a:extLst>
          </p:cNvPr>
          <p:cNvSpPr>
            <a:spLocks noGrp="1"/>
          </p:cNvSpPr>
          <p:nvPr/>
        </p:nvSpPr>
        <p:spPr>
          <a:xfrm>
            <a:off x="2628900" y="31813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0803E7-87EB-4DAA-B72C-58DD7B6DB7ED}"/>
              </a:ext>
            </a:extLst>
          </p:cNvPr>
          <p:cNvSpPr>
            <a:spLocks noGrp="1"/>
          </p:cNvSpPr>
          <p:nvPr/>
        </p:nvSpPr>
        <p:spPr>
          <a:xfrm>
            <a:off x="2857500" y="31623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怎么跑起来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AD5112-28B9-495A-AC5D-109B9837644F}"/>
              </a:ext>
            </a:extLst>
          </p:cNvPr>
          <p:cNvSpPr>
            <a:spLocks noGrp="1"/>
          </p:cNvSpPr>
          <p:nvPr/>
        </p:nvSpPr>
        <p:spPr>
          <a:xfrm>
            <a:off x="2762250" y="3448050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建立认知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FC4D0DB-37DA-4365-9849-91B54F7B77CE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1314450" cy="704850"/>
          </a:xfrm>
          <a:prstGeom prst="roundRect">
            <a:avLst>
              <a:gd name="adj" fmla="val 10811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4684BE-5501-440F-A186-4A2ABF86A842}"/>
              </a:ext>
            </a:extLst>
          </p:cNvPr>
          <p:cNvSpPr>
            <a:spLocks noGrp="1"/>
          </p:cNvSpPr>
          <p:nvPr/>
        </p:nvSpPr>
        <p:spPr>
          <a:xfrm>
            <a:off x="4381500" y="31813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0CE1E7-B261-402C-981D-3124CF2E946B}"/>
              </a:ext>
            </a:extLst>
          </p:cNvPr>
          <p:cNvSpPr>
            <a:spLocks noGrp="1"/>
          </p:cNvSpPr>
          <p:nvPr/>
        </p:nvSpPr>
        <p:spPr>
          <a:xfrm>
            <a:off x="4610100" y="31623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真实场景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438F3D-7895-4B26-B5E7-602D19E5BE93}"/>
              </a:ext>
            </a:extLst>
          </p:cNvPr>
          <p:cNvSpPr>
            <a:spLocks noGrp="1"/>
          </p:cNvSpPr>
          <p:nvPr/>
        </p:nvSpPr>
        <p:spPr>
          <a:xfrm>
            <a:off x="4514850" y="3448050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建立认知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A659746-3237-434F-BF0F-2485B137BBE1}"/>
              </a:ext>
            </a:extLst>
          </p:cNvPr>
          <p:cNvSpPr>
            <a:spLocks noGrp="1"/>
          </p:cNvSpPr>
          <p:nvPr/>
        </p:nvSpPr>
        <p:spPr>
          <a:xfrm>
            <a:off x="6000750" y="3067050"/>
            <a:ext cx="1314450" cy="704850"/>
          </a:xfrm>
          <a:prstGeom prst="roundRect">
            <a:avLst>
              <a:gd name="adj" fmla="val 10811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8721C9-3360-49E8-96A5-154ED888D4C2}"/>
              </a:ext>
            </a:extLst>
          </p:cNvPr>
          <p:cNvSpPr>
            <a:spLocks noGrp="1"/>
          </p:cNvSpPr>
          <p:nvPr/>
        </p:nvSpPr>
        <p:spPr>
          <a:xfrm>
            <a:off x="6134100" y="31813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84B956-774D-4F07-BD17-40CF8AB0BD00}"/>
              </a:ext>
            </a:extLst>
          </p:cNvPr>
          <p:cNvSpPr>
            <a:spLocks noGrp="1"/>
          </p:cNvSpPr>
          <p:nvPr/>
        </p:nvSpPr>
        <p:spPr>
          <a:xfrm>
            <a:off x="6362700" y="31623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工程化建设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B97126-B58F-4DEE-BED7-10C8A7488A89}"/>
              </a:ext>
            </a:extLst>
          </p:cNvPr>
          <p:cNvSpPr>
            <a:spLocks noGrp="1"/>
          </p:cNvSpPr>
          <p:nvPr/>
        </p:nvSpPr>
        <p:spPr>
          <a:xfrm>
            <a:off x="6267450" y="3448050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建立认知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A9C45B5-8B00-4D1B-8EED-F1930F457AD8}"/>
              </a:ext>
            </a:extLst>
          </p:cNvPr>
          <p:cNvSpPr>
            <a:spLocks noGrp="1"/>
          </p:cNvSpPr>
          <p:nvPr/>
        </p:nvSpPr>
        <p:spPr>
          <a:xfrm>
            <a:off x="7753350" y="3067050"/>
            <a:ext cx="1314450" cy="704850"/>
          </a:xfrm>
          <a:prstGeom prst="roundRect">
            <a:avLst>
              <a:gd name="adj" fmla="val 10811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E9410A-ABBA-4BE9-BDAE-8B69086F6221}"/>
              </a:ext>
            </a:extLst>
          </p:cNvPr>
          <p:cNvSpPr>
            <a:spLocks noGrp="1"/>
          </p:cNvSpPr>
          <p:nvPr/>
        </p:nvSpPr>
        <p:spPr>
          <a:xfrm>
            <a:off x="7886700" y="31813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F13B03-BAE8-49DB-9C4F-76EE8AE4985D}"/>
              </a:ext>
            </a:extLst>
          </p:cNvPr>
          <p:cNvSpPr>
            <a:spLocks noGrp="1"/>
          </p:cNvSpPr>
          <p:nvPr/>
        </p:nvSpPr>
        <p:spPr>
          <a:xfrm>
            <a:off x="8115300" y="31623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AI 工具实践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AC707-87EF-485D-9015-E8B6AA498CD2}"/>
              </a:ext>
            </a:extLst>
          </p:cNvPr>
          <p:cNvSpPr>
            <a:spLocks noGrp="1"/>
          </p:cNvSpPr>
          <p:nvPr/>
        </p:nvSpPr>
        <p:spPr>
          <a:xfrm>
            <a:off x="8020050" y="3448050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回到使用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FDEE42CA-0590-4E2C-89E4-671A82AE9EDB}"/>
              </a:ext>
            </a:extLst>
          </p:cNvPr>
          <p:cNvSpPr>
            <a:spLocks noGrp="1"/>
          </p:cNvSpPr>
          <p:nvPr/>
        </p:nvSpPr>
        <p:spPr>
          <a:xfrm>
            <a:off x="9505950" y="3067050"/>
            <a:ext cx="1314450" cy="704850"/>
          </a:xfrm>
          <a:prstGeom prst="roundRect">
            <a:avLst>
              <a:gd name="adj" fmla="val 10811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6882BB-3F89-443D-AA20-8A8D7301470D}"/>
              </a:ext>
            </a:extLst>
          </p:cNvPr>
          <p:cNvSpPr>
            <a:spLocks noGrp="1"/>
          </p:cNvSpPr>
          <p:nvPr/>
        </p:nvSpPr>
        <p:spPr>
          <a:xfrm>
            <a:off x="9639300" y="31813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A98FBB-0C54-49D6-813C-1143BAEBEBCC}"/>
              </a:ext>
            </a:extLst>
          </p:cNvPr>
          <p:cNvSpPr>
            <a:spLocks noGrp="1"/>
          </p:cNvSpPr>
          <p:nvPr/>
        </p:nvSpPr>
        <p:spPr>
          <a:xfrm>
            <a:off x="9867900" y="31623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AI First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8ADCBA-A7EF-4056-A1F9-C6B530B43EAB}"/>
              </a:ext>
            </a:extLst>
          </p:cNvPr>
          <p:cNvSpPr>
            <a:spLocks noGrp="1"/>
          </p:cNvSpPr>
          <p:nvPr/>
        </p:nvSpPr>
        <p:spPr>
          <a:xfrm>
            <a:off x="9772650" y="3448050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回到使用</a:t>
            </a:r>
          </a:p>
        </p:txBody>
      </p:sp>
      <p:cxnSp>
        <p:nvCxnSpPr>
          <p:cNvPr id="67" name="直线箭头连接符 66"/>
          <p:cNvCxnSpPr>
            <a:stCxn id="4" idx="3"/>
            <a:endCxn id="8" idx="1"/>
          </p:cNvCxnSpPr>
          <p:nvPr/>
        </p:nvCxnSpPr>
        <p:spPr>
          <a:xfrm>
            <a:off x="2057400" y="3419475"/>
            <a:ext cx="438150" cy="0"/>
          </a:xfrm>
          <a:prstGeom prst="straightConnector1">
            <a:avLst/>
          </a:prstGeom>
          <a:ln w="17145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68" name="直线箭头连接符 67"/>
          <p:cNvCxnSpPr>
            <a:stCxn id="8" idx="3"/>
            <a:endCxn id="12" idx="1"/>
          </p:cNvCxnSpPr>
          <p:nvPr/>
        </p:nvCxnSpPr>
        <p:spPr>
          <a:xfrm>
            <a:off x="3810000" y="3419475"/>
            <a:ext cx="438150" cy="0"/>
          </a:xfrm>
          <a:prstGeom prst="straightConnector1">
            <a:avLst/>
          </a:prstGeom>
          <a:ln w="17145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69" name="直线箭头连接符 68"/>
          <p:cNvCxnSpPr>
            <a:stCxn id="12" idx="3"/>
            <a:endCxn id="16" idx="1"/>
          </p:cNvCxnSpPr>
          <p:nvPr/>
        </p:nvCxnSpPr>
        <p:spPr>
          <a:xfrm>
            <a:off x="5562600" y="3419475"/>
            <a:ext cx="438150" cy="0"/>
          </a:xfrm>
          <a:prstGeom prst="straightConnector1">
            <a:avLst/>
          </a:prstGeom>
          <a:ln w="17145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70" name="直线箭头连接符 69"/>
          <p:cNvCxnSpPr>
            <a:stCxn id="16" idx="3"/>
            <a:endCxn id="20" idx="1"/>
          </p:cNvCxnSpPr>
          <p:nvPr/>
        </p:nvCxnSpPr>
        <p:spPr>
          <a:xfrm>
            <a:off x="7315200" y="3419475"/>
            <a:ext cx="438150" cy="0"/>
          </a:xfrm>
          <a:prstGeom prst="straightConnector1">
            <a:avLst/>
          </a:prstGeom>
          <a:ln w="17145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71" name="直线箭头连接符 70"/>
          <p:cNvCxnSpPr>
            <a:stCxn id="20" idx="3"/>
            <a:endCxn id="24" idx="1"/>
          </p:cNvCxnSpPr>
          <p:nvPr/>
        </p:nvCxnSpPr>
        <p:spPr>
          <a:xfrm>
            <a:off x="9067800" y="3419475"/>
            <a:ext cx="438150" cy="0"/>
          </a:xfrm>
          <a:prstGeom prst="straightConnector1">
            <a:avLst/>
          </a:prstGeom>
          <a:ln w="17145">
            <a:solidFill>
              <a:srgbClr val="C7000B"/>
            </a:solidFill>
            <a:prstDash val="solid"/>
            <a:tailEnd type="arrow" w="sm" len="sm"/>
          </a:ln>
        </p:spPr>
      </p:cxnSp>
      <p:sp>
        <p:nvSpPr>
          <p:cNvPr id="33" name="分享目标">
            <a:extLst>
              <a:ext uri="{FF2B5EF4-FFF2-40B4-BE49-F238E27FC236}">
                <a16:creationId xmlns:a16="http://schemas.microsoft.com/office/drawing/2014/main" id="{DFE7115B-54D3-4D55-9531-FC2460CC30DE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4953000" cy="914400"/>
          </a:xfrm>
          <a:prstGeom prst="roundRect">
            <a:avLst>
              <a:gd name="adj" fmla="val 6250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1B7A9B4-B17D-4561-BBE2-BEF0C132538C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468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分享目标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E854BA-03E1-412F-B266-B6B3FEC3071D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4686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理解 Agent 的基本运行机制；知道 AI 工具按能力怎么选；找到自己岗位可落地的提效入口。</a:t>
            </a:r>
          </a:p>
        </p:txBody>
      </p:sp>
      <p:sp>
        <p:nvSpPr>
          <p:cNvPr id="36" name="边界说明">
            <a:extLst>
              <a:ext uri="{FF2B5EF4-FFF2-40B4-BE49-F238E27FC236}">
                <a16:creationId xmlns:a16="http://schemas.microsoft.com/office/drawing/2014/main" id="{0D0CB0ED-B133-4DB2-993D-E1C0916721E9}"/>
              </a:ext>
            </a:extLst>
          </p:cNvPr>
          <p:cNvSpPr>
            <a:spLocks noGrp="1"/>
          </p:cNvSpPr>
          <p:nvPr/>
        </p:nvSpPr>
        <p:spPr>
          <a:xfrm>
            <a:off x="6096000" y="4743450"/>
            <a:ext cx="4762500" cy="914400"/>
          </a:xfrm>
          <a:prstGeom prst="roundRect">
            <a:avLst>
              <a:gd name="adj" fmla="val 6250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F500432-2213-4CAE-86E9-3DCEE15F8AD6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边界说明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541CF1-7A60-460F-BCC9-06EBA7FAD416}"/>
              </a:ext>
            </a:extLst>
          </p:cNvPr>
          <p:cNvSpPr>
            <a:spLocks noGrp="1"/>
          </p:cNvSpPr>
          <p:nvPr/>
        </p:nvSpPr>
        <p:spPr>
          <a:xfrm>
            <a:off x="6229350" y="5143500"/>
            <a:ext cx="449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不展开模型训练、复杂算法和前沿论文；重点放在概念、过程、场景和实践。</a:t>
            </a:r>
          </a:p>
        </p:txBody>
      </p:sp>
      <p:sp>
        <p:nvSpPr>
          <p:cNvPr id="39" name="footer">
            <a:extLst>
              <a:ext uri="{FF2B5EF4-FFF2-40B4-BE49-F238E27FC236}">
                <a16:creationId xmlns:a16="http://schemas.microsoft.com/office/drawing/2014/main" id="{E03DD516-6E29-433C-9FA0-071D2602A9A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10300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red-line">
            <a:extLst>
              <a:ext uri="{FF2B5EF4-FFF2-40B4-BE49-F238E27FC236}">
                <a16:creationId xmlns:a16="http://schemas.microsoft.com/office/drawing/2014/main" id="{86CEFDA0-025D-4932-8958-B1F9FDF668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D95C263F-5585-40B6-8B88-C8EF15EC422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D43E105-9EB6-4982-A35B-B5A36648C20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的基本构成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280EBDBE-9B58-48DA-B972-99DE2B56E268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02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7FCB6E1F-3D14-4157-B8E2-6BAECCE2EAD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Agent-center">
            <a:extLst>
              <a:ext uri="{FF2B5EF4-FFF2-40B4-BE49-F238E27FC236}">
                <a16:creationId xmlns:a16="http://schemas.microsoft.com/office/drawing/2014/main" id="{129CCB2B-4DE4-4D4C-803C-11662D34D8B1}"/>
              </a:ext>
            </a:extLst>
          </p:cNvPr>
          <p:cNvSpPr>
            <a:spLocks noGrp="1"/>
          </p:cNvSpPr>
          <p:nvPr/>
        </p:nvSpPr>
        <p:spPr>
          <a:xfrm>
            <a:off x="4905375" y="2857500"/>
            <a:ext cx="1676400" cy="8763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A21AF0-ADA8-4D11-ADD2-A0FDD2DAB49F}"/>
              </a:ext>
            </a:extLst>
          </p:cNvPr>
          <p:cNvSpPr>
            <a:spLocks noGrp="1"/>
          </p:cNvSpPr>
          <p:nvPr/>
        </p:nvSpPr>
        <p:spPr>
          <a:xfrm>
            <a:off x="5334000" y="308610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800" b="1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800" b="1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FDE948-3755-45BF-8508-4EA6D380DBA5}"/>
              </a:ext>
            </a:extLst>
          </p:cNvPr>
          <p:cNvSpPr>
            <a:spLocks noGrp="1"/>
          </p:cNvSpPr>
          <p:nvPr/>
        </p:nvSpPr>
        <p:spPr>
          <a:xfrm>
            <a:off x="5086350" y="33909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825" b="0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25" b="0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围绕目标持续行动</a:t>
            </a:r>
          </a:p>
        </p:txBody>
      </p:sp>
      <p:sp>
        <p:nvSpPr>
          <p:cNvPr id="9" name="Prompt">
            <a:extLst>
              <a:ext uri="{FF2B5EF4-FFF2-40B4-BE49-F238E27FC236}">
                <a16:creationId xmlns:a16="http://schemas.microsoft.com/office/drawing/2014/main" id="{8BCF16F9-48AF-4ACB-8591-6F962F314ADB}"/>
              </a:ext>
            </a:extLst>
          </p:cNvPr>
          <p:cNvSpPr>
            <a:spLocks noGrp="1"/>
          </p:cNvSpPr>
          <p:nvPr/>
        </p:nvSpPr>
        <p:spPr>
          <a:xfrm>
            <a:off x="1714500" y="1714500"/>
            <a:ext cx="2266950" cy="990600"/>
          </a:xfrm>
          <a:prstGeom prst="roundRect">
            <a:avLst>
              <a:gd name="adj" fmla="val 5769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377BEF-4FEA-46EF-A183-08CB2FF287A1}"/>
              </a:ext>
            </a:extLst>
          </p:cNvPr>
          <p:cNvSpPr>
            <a:spLocks noGrp="1"/>
          </p:cNvSpPr>
          <p:nvPr/>
        </p:nvSpPr>
        <p:spPr>
          <a:xfrm>
            <a:off x="1847850" y="18288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Prompt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35D537-1B04-4187-AB90-54FE0BABF723}"/>
              </a:ext>
            </a:extLst>
          </p:cNvPr>
          <p:cNvSpPr>
            <a:spLocks noGrp="1"/>
          </p:cNvSpPr>
          <p:nvPr/>
        </p:nvSpPr>
        <p:spPr>
          <a:xfrm>
            <a:off x="1847850" y="211455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目标、角色、规则、输出要求</a:t>
            </a:r>
          </a:p>
        </p:txBody>
      </p:sp>
      <p:sp>
        <p:nvSpPr>
          <p:cNvPr id="12" name="Context">
            <a:extLst>
              <a:ext uri="{FF2B5EF4-FFF2-40B4-BE49-F238E27FC236}">
                <a16:creationId xmlns:a16="http://schemas.microsoft.com/office/drawing/2014/main" id="{2EC6E6BC-1F8E-4E0F-B1C6-AA3F8976FC7D}"/>
              </a:ext>
            </a:extLst>
          </p:cNvPr>
          <p:cNvSpPr>
            <a:spLocks noGrp="1"/>
          </p:cNvSpPr>
          <p:nvPr/>
        </p:nvSpPr>
        <p:spPr>
          <a:xfrm>
            <a:off x="7581900" y="1714500"/>
            <a:ext cx="2266950" cy="990600"/>
          </a:xfrm>
          <a:prstGeom prst="roundRect">
            <a:avLst>
              <a:gd name="adj" fmla="val 5769"/>
            </a:avLst>
          </a:prstGeom>
          <a:solidFill>
            <a:srgbClr val="F5F6F7"/>
          </a:solidFill>
          <a:ln w="9525">
            <a:solidFill>
              <a:srgbClr val="2F68C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EDB632-052B-46D5-AE22-DB60768B0067}"/>
              </a:ext>
            </a:extLst>
          </p:cNvPr>
          <p:cNvSpPr>
            <a:spLocks noGrp="1"/>
          </p:cNvSpPr>
          <p:nvPr/>
        </p:nvSpPr>
        <p:spPr>
          <a:xfrm>
            <a:off x="7715250" y="18288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2F68C5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2F68C5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Context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F27351-DCC9-4960-9DB0-2CB138F44DC4}"/>
              </a:ext>
            </a:extLst>
          </p:cNvPr>
          <p:cNvSpPr>
            <a:spLocks noGrp="1"/>
          </p:cNvSpPr>
          <p:nvPr/>
        </p:nvSpPr>
        <p:spPr>
          <a:xfrm>
            <a:off x="7715250" y="211455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资料、历史、环境、任务状态</a:t>
            </a:r>
          </a:p>
        </p:txBody>
      </p:sp>
      <p:sp>
        <p:nvSpPr>
          <p:cNvPr id="15" name="Harness">
            <a:extLst>
              <a:ext uri="{FF2B5EF4-FFF2-40B4-BE49-F238E27FC236}">
                <a16:creationId xmlns:a16="http://schemas.microsoft.com/office/drawing/2014/main" id="{F2D1497F-74EB-4258-8B0E-8D236CDD11B4}"/>
              </a:ext>
            </a:extLst>
          </p:cNvPr>
          <p:cNvSpPr>
            <a:spLocks noGrp="1"/>
          </p:cNvSpPr>
          <p:nvPr/>
        </p:nvSpPr>
        <p:spPr>
          <a:xfrm>
            <a:off x="1714500" y="4210050"/>
            <a:ext cx="2266950" cy="990600"/>
          </a:xfrm>
          <a:prstGeom prst="roundRect">
            <a:avLst>
              <a:gd name="adj" fmla="val 5769"/>
            </a:avLst>
          </a:prstGeom>
          <a:solidFill>
            <a:srgbClr val="F5F6F7"/>
          </a:solidFill>
          <a:ln w="9525">
            <a:solidFill>
              <a:srgbClr val="0F8A5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FC9590-4C05-4191-AA95-BFC550FF4AD6}"/>
              </a:ext>
            </a:extLst>
          </p:cNvPr>
          <p:cNvSpPr>
            <a:spLocks noGrp="1"/>
          </p:cNvSpPr>
          <p:nvPr/>
        </p:nvSpPr>
        <p:spPr>
          <a:xfrm>
            <a:off x="1847850" y="4324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Harness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10C104-3EC2-4779-A620-FD602DDC7B9D}"/>
              </a:ext>
            </a:extLst>
          </p:cNvPr>
          <p:cNvSpPr>
            <a:spLocks noGrp="1"/>
          </p:cNvSpPr>
          <p:nvPr/>
        </p:nvSpPr>
        <p:spPr>
          <a:xfrm>
            <a:off x="1847850" y="46101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工具、权限、接口、执行环境</a:t>
            </a:r>
          </a:p>
        </p:txBody>
      </p:sp>
      <p:sp>
        <p:nvSpPr>
          <p:cNvPr id="18" name="Loop">
            <a:extLst>
              <a:ext uri="{FF2B5EF4-FFF2-40B4-BE49-F238E27FC236}">
                <a16:creationId xmlns:a16="http://schemas.microsoft.com/office/drawing/2014/main" id="{AE223E83-0C39-4E13-AC0E-ED594D4CF29C}"/>
              </a:ext>
            </a:extLst>
          </p:cNvPr>
          <p:cNvSpPr>
            <a:spLocks noGrp="1"/>
          </p:cNvSpPr>
          <p:nvPr/>
        </p:nvSpPr>
        <p:spPr>
          <a:xfrm>
            <a:off x="7581900" y="4210050"/>
            <a:ext cx="2266950" cy="990600"/>
          </a:xfrm>
          <a:prstGeom prst="roundRect">
            <a:avLst>
              <a:gd name="adj" fmla="val 5769"/>
            </a:avLst>
          </a:prstGeom>
          <a:solidFill>
            <a:srgbClr val="FFF4E6"/>
          </a:solidFill>
          <a:ln w="9525">
            <a:solidFill>
              <a:srgbClr val="B75E0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78E412-08CE-4C68-88F4-46EED6843FC2}"/>
              </a:ext>
            </a:extLst>
          </p:cNvPr>
          <p:cNvSpPr>
            <a:spLocks noGrp="1"/>
          </p:cNvSpPr>
          <p:nvPr/>
        </p:nvSpPr>
        <p:spPr>
          <a:xfrm>
            <a:off x="7715250" y="4324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Loop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DA8C27-80A2-4B7F-835B-8FCE6A25B7EE}"/>
              </a:ext>
            </a:extLst>
          </p:cNvPr>
          <p:cNvSpPr>
            <a:spLocks noGrp="1"/>
          </p:cNvSpPr>
          <p:nvPr/>
        </p:nvSpPr>
        <p:spPr>
          <a:xfrm>
            <a:off x="7715250" y="46101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计划、行动、观察、修正</a:t>
            </a:r>
          </a:p>
        </p:txBody>
      </p:sp>
      <p:cxnSp>
        <p:nvCxnSpPr>
          <p:cNvPr id="47" name="直线箭头连接符 46"/>
          <p:cNvCxnSpPr>
            <a:stCxn id="9" idx="3"/>
            <a:endCxn id="6" idx="1"/>
          </p:cNvCxnSpPr>
          <p:nvPr/>
        </p:nvCxnSpPr>
        <p:spPr>
          <a:xfrm>
            <a:off x="3981450" y="2209800"/>
            <a:ext cx="923925" cy="108585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48" name="直线箭头连接符 47"/>
          <p:cNvCxnSpPr>
            <a:stCxn id="12" idx="1"/>
            <a:endCxn id="6" idx="3"/>
          </p:cNvCxnSpPr>
          <p:nvPr/>
        </p:nvCxnSpPr>
        <p:spPr>
          <a:xfrm flipH="1">
            <a:off x="6581775" y="2209800"/>
            <a:ext cx="1000125" cy="1085850"/>
          </a:xfrm>
          <a:prstGeom prst="straightConnector1">
            <a:avLst/>
          </a:prstGeom>
          <a:ln w="15240">
            <a:solidFill>
              <a:srgbClr val="2F68C5"/>
            </a:solidFill>
            <a:prstDash val="solid"/>
            <a:tailEnd type="arrow" w="sm" len="sm"/>
          </a:ln>
        </p:spPr>
      </p:cxnSp>
      <p:cxnSp>
        <p:nvCxnSpPr>
          <p:cNvPr id="49" name="直线箭头连接符 48"/>
          <p:cNvCxnSpPr>
            <a:stCxn id="15" idx="3"/>
            <a:endCxn id="6" idx="1"/>
          </p:cNvCxnSpPr>
          <p:nvPr/>
        </p:nvCxnSpPr>
        <p:spPr>
          <a:xfrm flipV="1">
            <a:off x="3981450" y="3295650"/>
            <a:ext cx="923925" cy="1409700"/>
          </a:xfrm>
          <a:prstGeom prst="straightConnector1">
            <a:avLst/>
          </a:prstGeom>
          <a:ln w="15240">
            <a:solidFill>
              <a:srgbClr val="0F8A5F"/>
            </a:solidFill>
            <a:prstDash val="solid"/>
            <a:tailEnd type="arrow" w="sm" len="sm"/>
          </a:ln>
        </p:spPr>
      </p:cxnSp>
      <p:cxnSp>
        <p:nvCxnSpPr>
          <p:cNvPr id="50" name="直线箭头连接符 49"/>
          <p:cNvCxnSpPr>
            <a:stCxn id="18" idx="1"/>
            <a:endCxn id="6" idx="3"/>
          </p:cNvCxnSpPr>
          <p:nvPr/>
        </p:nvCxnSpPr>
        <p:spPr>
          <a:xfrm flipH="1" flipV="1">
            <a:off x="6581775" y="3295650"/>
            <a:ext cx="1000125" cy="1409700"/>
          </a:xfrm>
          <a:prstGeom prst="straightConnector1">
            <a:avLst/>
          </a:prstGeom>
          <a:ln w="15240">
            <a:solidFill>
              <a:srgbClr val="B75E00"/>
            </a:solidFill>
            <a:prstDash val="solid"/>
            <a:tailEnd type="arrow" w="sm" len="sm"/>
          </a:ln>
        </p:spPr>
      </p:cxnSp>
      <p:graphicFrame>
        <p:nvGraphicFramePr>
          <p:cNvPr id="51" name="表格 50"/>
          <p:cNvGraphicFramePr/>
          <p:nvPr/>
        </p:nvGraphicFramePr>
        <p:xfrm>
          <a:off x="952500" y="5581650"/>
          <a:ext cx="10287000" cy="808165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模块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一句话理解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部门工作中的例子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Prompt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任务说明书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分析需求影响，输出测试点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工作资料包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PRD、接口文档、历史缺陷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Harness / Loop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工具工作台 + 执行循环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搜索资料、生成草稿、失败后调整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footer">
            <a:extLst>
              <a:ext uri="{FF2B5EF4-FFF2-40B4-BE49-F238E27FC236}">
                <a16:creationId xmlns:a16="http://schemas.microsoft.com/office/drawing/2014/main" id="{23D866DC-9550-41C0-825F-2240D7F4EBA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1775358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red-line">
            <a:extLst>
              <a:ext uri="{FF2B5EF4-FFF2-40B4-BE49-F238E27FC236}">
                <a16:creationId xmlns:a16="http://schemas.microsoft.com/office/drawing/2014/main" id="{15B8313A-8BA2-4E7F-958B-338F0FB47F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F9045DEA-7EAC-47F2-B200-80F09BAF23A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5FED9A2-A353-46A0-8D54-5250847C9F8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Workflow 与 Agent 的差异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1F961323-6509-443F-AB62-DD3C14FDECA5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03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D50734D1-994A-4AF6-97E1-C42EC87D59E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A61704-2B5F-4396-9851-D800315F9E00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Workflow 适合固定流程，Agent 适合目标明确但路径不完全确定的任务。</a:t>
            </a:r>
          </a:p>
        </p:txBody>
      </p:sp>
      <p:sp>
        <p:nvSpPr>
          <p:cNvPr id="7" name="输入">
            <a:extLst>
              <a:ext uri="{FF2B5EF4-FFF2-40B4-BE49-F238E27FC236}">
                <a16:creationId xmlns:a16="http://schemas.microsoft.com/office/drawing/2014/main" id="{7A65EDAA-9590-4DDD-AB46-8C458813E8BA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990600" cy="704850"/>
          </a:xfrm>
          <a:prstGeom prst="roundRect">
            <a:avLst>
              <a:gd name="adj" fmla="val 810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028CB6-AA16-4A47-A6FF-9021B0B377D0}"/>
              </a:ext>
            </a:extLst>
          </p:cNvPr>
          <p:cNvSpPr>
            <a:spLocks noGrp="1"/>
          </p:cNvSpPr>
          <p:nvPr/>
        </p:nvSpPr>
        <p:spPr>
          <a:xfrm>
            <a:off x="1009650" y="220980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输入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073FBB-245F-4F74-91B3-18C3FDCAE00C}"/>
              </a:ext>
            </a:extLst>
          </p:cNvPr>
          <p:cNvSpPr>
            <a:spLocks noGrp="1"/>
          </p:cNvSpPr>
          <p:nvPr/>
        </p:nvSpPr>
        <p:spPr>
          <a:xfrm>
            <a:off x="1009650" y="249555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表单/触发</a:t>
            </a:r>
          </a:p>
        </p:txBody>
      </p:sp>
      <p:sp>
        <p:nvSpPr>
          <p:cNvPr id="10" name="规则处理">
            <a:extLst>
              <a:ext uri="{FF2B5EF4-FFF2-40B4-BE49-F238E27FC236}">
                <a16:creationId xmlns:a16="http://schemas.microsoft.com/office/drawing/2014/main" id="{4BB0981F-FE0F-458D-A54B-76DBC8BEBF05}"/>
              </a:ext>
            </a:extLst>
          </p:cNvPr>
          <p:cNvSpPr>
            <a:spLocks noGrp="1"/>
          </p:cNvSpPr>
          <p:nvPr/>
        </p:nvSpPr>
        <p:spPr>
          <a:xfrm>
            <a:off x="2171700" y="2095500"/>
            <a:ext cx="990600" cy="704850"/>
          </a:xfrm>
          <a:prstGeom prst="roundRect">
            <a:avLst>
              <a:gd name="adj" fmla="val 810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E77FE1-E2B4-454C-987F-F19988E667B6}"/>
              </a:ext>
            </a:extLst>
          </p:cNvPr>
          <p:cNvSpPr>
            <a:spLocks noGrp="1"/>
          </p:cNvSpPr>
          <p:nvPr/>
        </p:nvSpPr>
        <p:spPr>
          <a:xfrm>
            <a:off x="2305050" y="220980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规则处理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12E9F7-62F8-4957-9D2F-CFF7EACCF278}"/>
              </a:ext>
            </a:extLst>
          </p:cNvPr>
          <p:cNvSpPr>
            <a:spLocks noGrp="1"/>
          </p:cNvSpPr>
          <p:nvPr/>
        </p:nvSpPr>
        <p:spPr>
          <a:xfrm>
            <a:off x="2305050" y="249555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按预设条件</a:t>
            </a:r>
          </a:p>
        </p:txBody>
      </p:sp>
      <p:sp>
        <p:nvSpPr>
          <p:cNvPr id="13" name="固定节点">
            <a:extLst>
              <a:ext uri="{FF2B5EF4-FFF2-40B4-BE49-F238E27FC236}">
                <a16:creationId xmlns:a16="http://schemas.microsoft.com/office/drawing/2014/main" id="{67578C9B-6A4C-4C44-A5DA-78703BD619CE}"/>
              </a:ext>
            </a:extLst>
          </p:cNvPr>
          <p:cNvSpPr>
            <a:spLocks noGrp="1"/>
          </p:cNvSpPr>
          <p:nvPr/>
        </p:nvSpPr>
        <p:spPr>
          <a:xfrm>
            <a:off x="3467100" y="2095500"/>
            <a:ext cx="990600" cy="704850"/>
          </a:xfrm>
          <a:prstGeom prst="roundRect">
            <a:avLst>
              <a:gd name="adj" fmla="val 810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41B57E-46F8-404E-BB55-9ADD4CF01932}"/>
              </a:ext>
            </a:extLst>
          </p:cNvPr>
          <p:cNvSpPr>
            <a:spLocks noGrp="1"/>
          </p:cNvSpPr>
          <p:nvPr/>
        </p:nvSpPr>
        <p:spPr>
          <a:xfrm>
            <a:off x="3600450" y="220980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固定节点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7807433-8C47-4A76-AB78-766CB3E3A2A5}"/>
              </a:ext>
            </a:extLst>
          </p:cNvPr>
          <p:cNvSpPr>
            <a:spLocks noGrp="1"/>
          </p:cNvSpPr>
          <p:nvPr/>
        </p:nvSpPr>
        <p:spPr>
          <a:xfrm>
            <a:off x="3600450" y="249555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不可跳步</a:t>
            </a:r>
          </a:p>
        </p:txBody>
      </p:sp>
      <p:sp>
        <p:nvSpPr>
          <p:cNvPr id="16" name="输出">
            <a:extLst>
              <a:ext uri="{FF2B5EF4-FFF2-40B4-BE49-F238E27FC236}">
                <a16:creationId xmlns:a16="http://schemas.microsoft.com/office/drawing/2014/main" id="{B91D5634-53BB-49E9-9543-BB29676903CE}"/>
              </a:ext>
            </a:extLst>
          </p:cNvPr>
          <p:cNvSpPr>
            <a:spLocks noGrp="1"/>
          </p:cNvSpPr>
          <p:nvPr/>
        </p:nvSpPr>
        <p:spPr>
          <a:xfrm>
            <a:off x="4762500" y="2095500"/>
            <a:ext cx="990600" cy="704850"/>
          </a:xfrm>
          <a:prstGeom prst="roundRect">
            <a:avLst>
              <a:gd name="adj" fmla="val 810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DC4E7C-8847-4A7D-B789-218FBA0B15C2}"/>
              </a:ext>
            </a:extLst>
          </p:cNvPr>
          <p:cNvSpPr>
            <a:spLocks noGrp="1"/>
          </p:cNvSpPr>
          <p:nvPr/>
        </p:nvSpPr>
        <p:spPr>
          <a:xfrm>
            <a:off x="4895850" y="220980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输出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BBCE98-C2DA-4D08-9930-5CDD9B47C74F}"/>
              </a:ext>
            </a:extLst>
          </p:cNvPr>
          <p:cNvSpPr>
            <a:spLocks noGrp="1"/>
          </p:cNvSpPr>
          <p:nvPr/>
        </p:nvSpPr>
        <p:spPr>
          <a:xfrm>
            <a:off x="4895850" y="249555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稳定结果</a:t>
            </a:r>
          </a:p>
        </p:txBody>
      </p:sp>
      <p:cxnSp>
        <p:nvCxnSpPr>
          <p:cNvPr id="60" name="直线箭头连接符 59"/>
          <p:cNvCxnSpPr>
            <a:stCxn id="7" idx="3"/>
            <a:endCxn id="10" idx="1"/>
          </p:cNvCxnSpPr>
          <p:nvPr/>
        </p:nvCxnSpPr>
        <p:spPr>
          <a:xfrm>
            <a:off x="1866900" y="2447925"/>
            <a:ext cx="304800" cy="0"/>
          </a:xfrm>
          <a:prstGeom prst="straightConnector1">
            <a:avLst/>
          </a:prstGeom>
          <a:ln w="15240">
            <a:solidFill>
              <a:srgbClr val="8A8F98"/>
            </a:solidFill>
            <a:prstDash val="solid"/>
            <a:tailEnd type="arrow" w="sm" len="sm"/>
          </a:ln>
        </p:spPr>
      </p:cxnSp>
      <p:cxnSp>
        <p:nvCxnSpPr>
          <p:cNvPr id="61" name="直线箭头连接符 60"/>
          <p:cNvCxnSpPr>
            <a:stCxn id="10" idx="3"/>
            <a:endCxn id="13" idx="1"/>
          </p:cNvCxnSpPr>
          <p:nvPr/>
        </p:nvCxnSpPr>
        <p:spPr>
          <a:xfrm>
            <a:off x="3162300" y="2447925"/>
            <a:ext cx="304800" cy="0"/>
          </a:xfrm>
          <a:prstGeom prst="straightConnector1">
            <a:avLst/>
          </a:prstGeom>
          <a:ln w="15240">
            <a:solidFill>
              <a:srgbClr val="8A8F98"/>
            </a:solidFill>
            <a:prstDash val="solid"/>
            <a:tailEnd type="arrow" w="sm" len="sm"/>
          </a:ln>
        </p:spPr>
      </p:cxnSp>
      <p:cxnSp>
        <p:nvCxnSpPr>
          <p:cNvPr id="62" name="直线箭头连接符 61"/>
          <p:cNvCxnSpPr>
            <a:stCxn id="13" idx="3"/>
            <a:endCxn id="16" idx="1"/>
          </p:cNvCxnSpPr>
          <p:nvPr/>
        </p:nvCxnSpPr>
        <p:spPr>
          <a:xfrm>
            <a:off x="4457700" y="2447925"/>
            <a:ext cx="304800" cy="0"/>
          </a:xfrm>
          <a:prstGeom prst="straightConnector1">
            <a:avLst/>
          </a:prstGeom>
          <a:ln w="15240">
            <a:solidFill>
              <a:srgbClr val="8A8F98"/>
            </a:solidFill>
            <a:prstDash val="solid"/>
            <a:tailEnd type="arrow" w="sm" len="sm"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2F366E25-1DBC-4A0F-9D3A-3EF61CCD95EE}"/>
              </a:ext>
            </a:extLst>
          </p:cNvPr>
          <p:cNvSpPr>
            <a:spLocks noGrp="1"/>
          </p:cNvSpPr>
          <p:nvPr/>
        </p:nvSpPr>
        <p:spPr>
          <a:xfrm>
            <a:off x="2590800" y="17526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3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固定路径</a:t>
            </a:r>
          </a:p>
        </p:txBody>
      </p:sp>
      <p:sp>
        <p:nvSpPr>
          <p:cNvPr id="23" name="目标">
            <a:extLst>
              <a:ext uri="{FF2B5EF4-FFF2-40B4-BE49-F238E27FC236}">
                <a16:creationId xmlns:a16="http://schemas.microsoft.com/office/drawing/2014/main" id="{1BDA38ED-5B04-4C63-9C47-11D794D7A2C8}"/>
              </a:ext>
            </a:extLst>
          </p:cNvPr>
          <p:cNvSpPr>
            <a:spLocks noGrp="1"/>
          </p:cNvSpPr>
          <p:nvPr/>
        </p:nvSpPr>
        <p:spPr>
          <a:xfrm>
            <a:off x="7048500" y="205740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AB6AE50-224B-426E-8641-A51FD7E16263}"/>
              </a:ext>
            </a:extLst>
          </p:cNvPr>
          <p:cNvSpPr>
            <a:spLocks noGrp="1"/>
          </p:cNvSpPr>
          <p:nvPr/>
        </p:nvSpPr>
        <p:spPr>
          <a:xfrm>
            <a:off x="7181850" y="21717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目标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F90F62-8F9F-41F5-BA78-9CC1EE0D9CB4}"/>
              </a:ext>
            </a:extLst>
          </p:cNvPr>
          <p:cNvSpPr>
            <a:spLocks noGrp="1"/>
          </p:cNvSpPr>
          <p:nvPr/>
        </p:nvSpPr>
        <p:spPr>
          <a:xfrm>
            <a:off x="7181850" y="24574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分析影响范围</a:t>
            </a:r>
          </a:p>
        </p:txBody>
      </p:sp>
      <p:sp>
        <p:nvSpPr>
          <p:cNvPr id="26" name="行动">
            <a:extLst>
              <a:ext uri="{FF2B5EF4-FFF2-40B4-BE49-F238E27FC236}">
                <a16:creationId xmlns:a16="http://schemas.microsoft.com/office/drawing/2014/main" id="{7DB10003-E3F6-4AF8-AB36-10D4B4B9F56F}"/>
              </a:ext>
            </a:extLst>
          </p:cNvPr>
          <p:cNvSpPr>
            <a:spLocks noGrp="1"/>
          </p:cNvSpPr>
          <p:nvPr/>
        </p:nvSpPr>
        <p:spPr>
          <a:xfrm>
            <a:off x="8858250" y="205740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9A63CF-083C-48C1-9713-797235CE4D7F}"/>
              </a:ext>
            </a:extLst>
          </p:cNvPr>
          <p:cNvSpPr>
            <a:spLocks noGrp="1"/>
          </p:cNvSpPr>
          <p:nvPr/>
        </p:nvSpPr>
        <p:spPr>
          <a:xfrm>
            <a:off x="8991600" y="21717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行动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3258EC-614E-4D8C-9DA2-E1D3E347E0AE}"/>
              </a:ext>
            </a:extLst>
          </p:cNvPr>
          <p:cNvSpPr>
            <a:spLocks noGrp="1"/>
          </p:cNvSpPr>
          <p:nvPr/>
        </p:nvSpPr>
        <p:spPr>
          <a:xfrm>
            <a:off x="8991600" y="24574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调用工具</a:t>
            </a:r>
          </a:p>
        </p:txBody>
      </p:sp>
      <p:sp>
        <p:nvSpPr>
          <p:cNvPr id="29" name="观察">
            <a:extLst>
              <a:ext uri="{FF2B5EF4-FFF2-40B4-BE49-F238E27FC236}">
                <a16:creationId xmlns:a16="http://schemas.microsoft.com/office/drawing/2014/main" id="{F3AFA04A-1C61-4823-825D-04653CAE09A5}"/>
              </a:ext>
            </a:extLst>
          </p:cNvPr>
          <p:cNvSpPr>
            <a:spLocks noGrp="1"/>
          </p:cNvSpPr>
          <p:nvPr/>
        </p:nvSpPr>
        <p:spPr>
          <a:xfrm>
            <a:off x="8858250" y="333375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779089-B681-42D4-A259-620E72832B90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观察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B47823E-461E-41F1-A69F-7662E9FF2B9A}"/>
              </a:ext>
            </a:extLst>
          </p:cNvPr>
          <p:cNvSpPr>
            <a:spLocks noGrp="1"/>
          </p:cNvSpPr>
          <p:nvPr/>
        </p:nvSpPr>
        <p:spPr>
          <a:xfrm>
            <a:off x="8991600" y="37338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读取结果</a:t>
            </a:r>
          </a:p>
        </p:txBody>
      </p:sp>
      <p:sp>
        <p:nvSpPr>
          <p:cNvPr id="32" name="调整">
            <a:extLst>
              <a:ext uri="{FF2B5EF4-FFF2-40B4-BE49-F238E27FC236}">
                <a16:creationId xmlns:a16="http://schemas.microsoft.com/office/drawing/2014/main" id="{9235FD1E-345E-4AA2-AEAB-F9D95B10F374}"/>
              </a:ext>
            </a:extLst>
          </p:cNvPr>
          <p:cNvSpPr>
            <a:spLocks noGrp="1"/>
          </p:cNvSpPr>
          <p:nvPr/>
        </p:nvSpPr>
        <p:spPr>
          <a:xfrm>
            <a:off x="7048500" y="333375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 w="9525">
            <a:solidFill>
              <a:srgbClr val="B75E00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A701F6-D873-4294-B482-57B025309CC4}"/>
              </a:ext>
            </a:extLst>
          </p:cNvPr>
          <p:cNvSpPr>
            <a:spLocks noGrp="1"/>
          </p:cNvSpPr>
          <p:nvPr/>
        </p:nvSpPr>
        <p:spPr>
          <a:xfrm>
            <a:off x="7181850" y="34480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调整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59841F-CCB8-4A16-8FE3-21155740F126}"/>
              </a:ext>
            </a:extLst>
          </p:cNvPr>
          <p:cNvSpPr>
            <a:spLocks noGrp="1"/>
          </p:cNvSpPr>
          <p:nvPr/>
        </p:nvSpPr>
        <p:spPr>
          <a:xfrm>
            <a:off x="7181850" y="37338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决定下一步</a:t>
            </a:r>
          </a:p>
        </p:txBody>
      </p:sp>
      <p:cxnSp>
        <p:nvCxnSpPr>
          <p:cNvPr id="76" name="直线箭头连接符 75"/>
          <p:cNvCxnSpPr>
            <a:stCxn id="23" idx="3"/>
            <a:endCxn id="26" idx="1"/>
          </p:cNvCxnSpPr>
          <p:nvPr/>
        </p:nvCxnSpPr>
        <p:spPr>
          <a:xfrm>
            <a:off x="8115300" y="2400300"/>
            <a:ext cx="742950" cy="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77" name="直线箭头连接符 76"/>
          <p:cNvCxnSpPr>
            <a:stCxn id="26" idx="2"/>
            <a:endCxn id="29" idx="0"/>
          </p:cNvCxnSpPr>
          <p:nvPr/>
        </p:nvCxnSpPr>
        <p:spPr>
          <a:xfrm>
            <a:off x="9391650" y="2743200"/>
            <a:ext cx="0" cy="59055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78" name="直线箭头连接符 77"/>
          <p:cNvCxnSpPr>
            <a:stCxn id="29" idx="1"/>
            <a:endCxn id="32" idx="3"/>
          </p:cNvCxnSpPr>
          <p:nvPr/>
        </p:nvCxnSpPr>
        <p:spPr>
          <a:xfrm flipH="1">
            <a:off x="8115300" y="3676650"/>
            <a:ext cx="742950" cy="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79" name="直线箭头连接符 78"/>
          <p:cNvCxnSpPr>
            <a:stCxn id="32" idx="0"/>
            <a:endCxn id="23" idx="2"/>
          </p:cNvCxnSpPr>
          <p:nvPr/>
        </p:nvCxnSpPr>
        <p:spPr>
          <a:xfrm flipV="1">
            <a:off x="7581900" y="2743200"/>
            <a:ext cx="0" cy="59055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577D650B-DBA1-450E-847B-FEA0DC4673D5}"/>
              </a:ext>
            </a:extLst>
          </p:cNvPr>
          <p:cNvSpPr>
            <a:spLocks noGrp="1"/>
          </p:cNvSpPr>
          <p:nvPr/>
        </p:nvSpPr>
        <p:spPr>
          <a:xfrm>
            <a:off x="7905750" y="17526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3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动态循环</a:t>
            </a:r>
          </a:p>
        </p:txBody>
      </p:sp>
      <p:graphicFrame>
        <p:nvGraphicFramePr>
          <p:cNvPr id="81" name="表格 80"/>
          <p:cNvGraphicFramePr/>
          <p:nvPr/>
        </p:nvGraphicFramePr>
        <p:xfrm>
          <a:off x="1123950" y="4762500"/>
          <a:ext cx="9944100" cy="135255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51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对比项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Workflow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Agent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路径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预先定义，稳定可复用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根据中间结果动态选择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规则或人决定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模型参与判断，人做关键确认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适合任务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固定审批、定时同步、格式转换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需求分析、资料整理、代码排查、探索式任务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风险控制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流程节点控制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权限、日志、人工确认、停止条件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footer">
            <a:extLst>
              <a:ext uri="{FF2B5EF4-FFF2-40B4-BE49-F238E27FC236}">
                <a16:creationId xmlns:a16="http://schemas.microsoft.com/office/drawing/2014/main" id="{B216A2D7-B854-4284-8A86-4328701013C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62340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red-line">
            <a:extLst>
              <a:ext uri="{FF2B5EF4-FFF2-40B4-BE49-F238E27FC236}">
                <a16:creationId xmlns:a16="http://schemas.microsoft.com/office/drawing/2014/main" id="{03E8E9A6-CC9D-4385-ADC0-50B3F9F64A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2610F0B0-B9E8-4728-9EB3-138C70800E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4972BBF-77B5-45BF-9A5E-9AE5BD6DEF1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最小 Agent 的运行闭环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31D47A6F-F76C-47DE-B94D-6E861A1C7E08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04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F03DD970-56DE-41ED-96FF-13F048B938A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972046-EAEE-409C-8D15-6629838FC45E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一个最小 Agent 的关键不是功能多，而是能形成“目标、工具、反馈、停止”的闭环。</a:t>
            </a:r>
          </a:p>
        </p:txBody>
      </p:sp>
      <p:sp>
        <p:nvSpPr>
          <p:cNvPr id="7" name="1 接收目标">
            <a:extLst>
              <a:ext uri="{FF2B5EF4-FFF2-40B4-BE49-F238E27FC236}">
                <a16:creationId xmlns:a16="http://schemas.microsoft.com/office/drawing/2014/main" id="{CE5ADC0B-CCB2-4D5E-9AFD-1EB04B8E0EA8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1352550" cy="704850"/>
          </a:xfrm>
          <a:prstGeom prst="roundRect">
            <a:avLst>
              <a:gd name="adj" fmla="val 8108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997D6C-9B20-44B5-9C96-6D49C1577D7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1 接收目标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4915C6-82A0-4AE6-A795-B696D69A1597}"/>
              </a:ext>
            </a:extLst>
          </p:cNvPr>
          <p:cNvSpPr>
            <a:spLocks noGrp="1"/>
          </p:cNvSpPr>
          <p:nvPr/>
        </p:nvSpPr>
        <p:spPr>
          <a:xfrm>
            <a:off x="1162050" y="266700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要完成什么</a:t>
            </a:r>
          </a:p>
        </p:txBody>
      </p:sp>
      <p:sp>
        <p:nvSpPr>
          <p:cNvPr id="10" name="2 读取上下文">
            <a:extLst>
              <a:ext uri="{FF2B5EF4-FFF2-40B4-BE49-F238E27FC236}">
                <a16:creationId xmlns:a16="http://schemas.microsoft.com/office/drawing/2014/main" id="{CE9463AB-5CE2-46B7-AED8-A8E42DB7CEE1}"/>
              </a:ext>
            </a:extLst>
          </p:cNvPr>
          <p:cNvSpPr>
            <a:spLocks noGrp="1"/>
          </p:cNvSpPr>
          <p:nvPr/>
        </p:nvSpPr>
        <p:spPr>
          <a:xfrm>
            <a:off x="2933700" y="2266950"/>
            <a:ext cx="1352550" cy="704850"/>
          </a:xfrm>
          <a:prstGeom prst="roundRect">
            <a:avLst>
              <a:gd name="adj" fmla="val 810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9D2FB9-8896-4A73-8529-CA3D92827EC6}"/>
              </a:ext>
            </a:extLst>
          </p:cNvPr>
          <p:cNvSpPr>
            <a:spLocks noGrp="1"/>
          </p:cNvSpPr>
          <p:nvPr/>
        </p:nvSpPr>
        <p:spPr>
          <a:xfrm>
            <a:off x="3067050" y="23812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2 读取上下文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7EC39F-82C6-4A54-B844-58A12E06FA4E}"/>
              </a:ext>
            </a:extLst>
          </p:cNvPr>
          <p:cNvSpPr>
            <a:spLocks noGrp="1"/>
          </p:cNvSpPr>
          <p:nvPr/>
        </p:nvSpPr>
        <p:spPr>
          <a:xfrm>
            <a:off x="3067050" y="266700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参考哪些资料</a:t>
            </a:r>
          </a:p>
        </p:txBody>
      </p:sp>
      <p:sp>
        <p:nvSpPr>
          <p:cNvPr id="13" name="3 生成计划">
            <a:extLst>
              <a:ext uri="{FF2B5EF4-FFF2-40B4-BE49-F238E27FC236}">
                <a16:creationId xmlns:a16="http://schemas.microsoft.com/office/drawing/2014/main" id="{05A33A69-A2F5-4C48-A0D6-4CD5454EF774}"/>
              </a:ext>
            </a:extLst>
          </p:cNvPr>
          <p:cNvSpPr>
            <a:spLocks noGrp="1"/>
          </p:cNvSpPr>
          <p:nvPr/>
        </p:nvSpPr>
        <p:spPr>
          <a:xfrm>
            <a:off x="4838700" y="2266950"/>
            <a:ext cx="1352550" cy="704850"/>
          </a:xfrm>
          <a:prstGeom prst="roundRect">
            <a:avLst>
              <a:gd name="adj" fmla="val 810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BAB09D-D443-44F5-B90C-81BDCFCFAE77}"/>
              </a:ext>
            </a:extLst>
          </p:cNvPr>
          <p:cNvSpPr>
            <a:spLocks noGrp="1"/>
          </p:cNvSpPr>
          <p:nvPr/>
        </p:nvSpPr>
        <p:spPr>
          <a:xfrm>
            <a:off x="4972050" y="23812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3 生成计划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7036FF-5165-4346-BBB8-CA769DBF89D3}"/>
              </a:ext>
            </a:extLst>
          </p:cNvPr>
          <p:cNvSpPr>
            <a:spLocks noGrp="1"/>
          </p:cNvSpPr>
          <p:nvPr/>
        </p:nvSpPr>
        <p:spPr>
          <a:xfrm>
            <a:off x="4972050" y="266700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下一步做什么</a:t>
            </a:r>
          </a:p>
        </p:txBody>
      </p:sp>
      <p:sp>
        <p:nvSpPr>
          <p:cNvPr id="16" name="4 调用工具">
            <a:extLst>
              <a:ext uri="{FF2B5EF4-FFF2-40B4-BE49-F238E27FC236}">
                <a16:creationId xmlns:a16="http://schemas.microsoft.com/office/drawing/2014/main" id="{F995E756-5EB9-47EA-B094-F3EF8813CBF7}"/>
              </a:ext>
            </a:extLst>
          </p:cNvPr>
          <p:cNvSpPr>
            <a:spLocks noGrp="1"/>
          </p:cNvSpPr>
          <p:nvPr/>
        </p:nvSpPr>
        <p:spPr>
          <a:xfrm>
            <a:off x="6743700" y="2266950"/>
            <a:ext cx="1352550" cy="704850"/>
          </a:xfrm>
          <a:prstGeom prst="roundRect">
            <a:avLst>
              <a:gd name="adj" fmla="val 810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6260E8-DDF7-46C8-BF2C-D795235E3440}"/>
              </a:ext>
            </a:extLst>
          </p:cNvPr>
          <p:cNvSpPr>
            <a:spLocks noGrp="1"/>
          </p:cNvSpPr>
          <p:nvPr/>
        </p:nvSpPr>
        <p:spPr>
          <a:xfrm>
            <a:off x="6877050" y="23812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4 调用工具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D81042-10F8-4E0D-8A18-BBB35EA26F4E}"/>
              </a:ext>
            </a:extLst>
          </p:cNvPr>
          <p:cNvSpPr>
            <a:spLocks noGrp="1"/>
          </p:cNvSpPr>
          <p:nvPr/>
        </p:nvSpPr>
        <p:spPr>
          <a:xfrm>
            <a:off x="6877050" y="266700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真正执行动作</a:t>
            </a:r>
          </a:p>
        </p:txBody>
      </p:sp>
      <p:sp>
        <p:nvSpPr>
          <p:cNvPr id="19" name="5 观察结果">
            <a:extLst>
              <a:ext uri="{FF2B5EF4-FFF2-40B4-BE49-F238E27FC236}">
                <a16:creationId xmlns:a16="http://schemas.microsoft.com/office/drawing/2014/main" id="{C713A06C-BBC1-47D0-8B7B-7C54209A9C70}"/>
              </a:ext>
            </a:extLst>
          </p:cNvPr>
          <p:cNvSpPr>
            <a:spLocks noGrp="1"/>
          </p:cNvSpPr>
          <p:nvPr/>
        </p:nvSpPr>
        <p:spPr>
          <a:xfrm>
            <a:off x="8648700" y="2266950"/>
            <a:ext cx="1352550" cy="704850"/>
          </a:xfrm>
          <a:prstGeom prst="roundRect">
            <a:avLst>
              <a:gd name="adj" fmla="val 810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5053E8-B223-470F-B9BB-0148C8C974D5}"/>
              </a:ext>
            </a:extLst>
          </p:cNvPr>
          <p:cNvSpPr>
            <a:spLocks noGrp="1"/>
          </p:cNvSpPr>
          <p:nvPr/>
        </p:nvSpPr>
        <p:spPr>
          <a:xfrm>
            <a:off x="8782050" y="23812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5 观察结果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35A889-B21C-4D5E-9105-EDF346FC1747}"/>
              </a:ext>
            </a:extLst>
          </p:cNvPr>
          <p:cNvSpPr>
            <a:spLocks noGrp="1"/>
          </p:cNvSpPr>
          <p:nvPr/>
        </p:nvSpPr>
        <p:spPr>
          <a:xfrm>
            <a:off x="8782050" y="266700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执行是否有效</a:t>
            </a:r>
          </a:p>
        </p:txBody>
      </p:sp>
      <p:cxnSp>
        <p:nvCxnSpPr>
          <p:cNvPr id="69" name="直线箭头连接符 68"/>
          <p:cNvCxnSpPr>
            <a:stCxn id="7" idx="3"/>
            <a:endCxn id="10" idx="1"/>
          </p:cNvCxnSpPr>
          <p:nvPr/>
        </p:nvCxnSpPr>
        <p:spPr>
          <a:xfrm>
            <a:off x="2381250" y="2619375"/>
            <a:ext cx="552450" cy="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70" name="直线箭头连接符 69"/>
          <p:cNvCxnSpPr>
            <a:stCxn id="10" idx="3"/>
            <a:endCxn id="13" idx="1"/>
          </p:cNvCxnSpPr>
          <p:nvPr/>
        </p:nvCxnSpPr>
        <p:spPr>
          <a:xfrm>
            <a:off x="4286250" y="2619375"/>
            <a:ext cx="552450" cy="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71" name="直线箭头连接符 70"/>
          <p:cNvCxnSpPr>
            <a:stCxn id="13" idx="3"/>
            <a:endCxn id="16" idx="1"/>
          </p:cNvCxnSpPr>
          <p:nvPr/>
        </p:nvCxnSpPr>
        <p:spPr>
          <a:xfrm>
            <a:off x="6191250" y="2619375"/>
            <a:ext cx="552450" cy="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72" name="直线箭头连接符 71"/>
          <p:cNvCxnSpPr>
            <a:stCxn id="16" idx="3"/>
            <a:endCxn id="19" idx="1"/>
          </p:cNvCxnSpPr>
          <p:nvPr/>
        </p:nvCxnSpPr>
        <p:spPr>
          <a:xfrm>
            <a:off x="8096250" y="2619375"/>
            <a:ext cx="552450" cy="0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sp>
        <p:nvSpPr>
          <p:cNvPr id="26" name="decision">
            <a:extLst>
              <a:ext uri="{FF2B5EF4-FFF2-40B4-BE49-F238E27FC236}">
                <a16:creationId xmlns:a16="http://schemas.microsoft.com/office/drawing/2014/main" id="{EC2DFF22-827F-4248-BC67-0D67DEA7702D}"/>
              </a:ext>
            </a:extLst>
          </p:cNvPr>
          <p:cNvSpPr>
            <a:spLocks noGrp="1"/>
          </p:cNvSpPr>
          <p:nvPr/>
        </p:nvSpPr>
        <p:spPr>
          <a:xfrm>
            <a:off x="9639300" y="2114550"/>
            <a:ext cx="1104900" cy="990600"/>
          </a:xfrm>
          <a:prstGeom prst="diamond">
            <a:avLst/>
          </a:prstGeom>
          <a:solidFill>
            <a:srgbClr val="FFF4E6"/>
          </a:solidFill>
          <a:ln w="11430">
            <a:solidFill>
              <a:srgbClr val="B75E0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DDC8728-7B4F-4605-9ADA-46843CF6D07B}"/>
              </a:ext>
            </a:extLst>
          </p:cNvPr>
          <p:cNvSpPr>
            <a:spLocks noGrp="1"/>
          </p:cNvSpPr>
          <p:nvPr/>
        </p:nvSpPr>
        <p:spPr>
          <a:xfrm>
            <a:off x="9810750" y="24574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975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是否完成</a:t>
            </a:r>
          </a:p>
        </p:txBody>
      </p:sp>
      <p:cxnSp>
        <p:nvCxnSpPr>
          <p:cNvPr id="75" name="直线箭头连接符 74"/>
          <p:cNvCxnSpPr>
            <a:stCxn id="19" idx="3"/>
            <a:endCxn id="26" idx="1"/>
          </p:cNvCxnSpPr>
          <p:nvPr/>
        </p:nvCxnSpPr>
        <p:spPr>
          <a:xfrm flipH="1" flipV="1">
            <a:off x="9639300" y="2609850"/>
            <a:ext cx="361950" cy="9525"/>
          </a:xfrm>
          <a:prstGeom prst="straightConnector1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sp>
        <p:nvSpPr>
          <p:cNvPr id="29" name="完成输出">
            <a:extLst>
              <a:ext uri="{FF2B5EF4-FFF2-40B4-BE49-F238E27FC236}">
                <a16:creationId xmlns:a16="http://schemas.microsoft.com/office/drawing/2014/main" id="{44293F5C-49E2-4D7D-9713-BA77FB23B054}"/>
              </a:ext>
            </a:extLst>
          </p:cNvPr>
          <p:cNvSpPr>
            <a:spLocks noGrp="1"/>
          </p:cNvSpPr>
          <p:nvPr/>
        </p:nvSpPr>
        <p:spPr>
          <a:xfrm>
            <a:off x="9467850" y="3714750"/>
            <a:ext cx="14287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F8A5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D85C4C6-4637-4393-ABAA-BB748C5EF9A6}"/>
              </a:ext>
            </a:extLst>
          </p:cNvPr>
          <p:cNvSpPr>
            <a:spLocks noGrp="1"/>
          </p:cNvSpPr>
          <p:nvPr/>
        </p:nvSpPr>
        <p:spPr>
          <a:xfrm>
            <a:off x="9601200" y="382905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38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38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完成输出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2BC353-EC82-4CAC-B216-EBB87BDF28F0}"/>
              </a:ext>
            </a:extLst>
          </p:cNvPr>
          <p:cNvSpPr>
            <a:spLocks noGrp="1"/>
          </p:cNvSpPr>
          <p:nvPr/>
        </p:nvSpPr>
        <p:spPr>
          <a:xfrm>
            <a:off x="9601200" y="4114800"/>
            <a:ext cx="1162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交付草稿 / 结论</a:t>
            </a:r>
          </a:p>
        </p:txBody>
      </p:sp>
      <p:sp>
        <p:nvSpPr>
          <p:cNvPr id="32" name="人工介入">
            <a:extLst>
              <a:ext uri="{FF2B5EF4-FFF2-40B4-BE49-F238E27FC236}">
                <a16:creationId xmlns:a16="http://schemas.microsoft.com/office/drawing/2014/main" id="{9BA36D90-BBB4-4BFE-91D1-5361ABA7DF8B}"/>
              </a:ext>
            </a:extLst>
          </p:cNvPr>
          <p:cNvSpPr>
            <a:spLocks noGrp="1"/>
          </p:cNvSpPr>
          <p:nvPr/>
        </p:nvSpPr>
        <p:spPr>
          <a:xfrm>
            <a:off x="7562850" y="3714750"/>
            <a:ext cx="1428750" cy="590550"/>
          </a:xfrm>
          <a:prstGeom prst="roundRect">
            <a:avLst>
              <a:gd name="adj" fmla="val 9677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8B5EAF3-4014-42D0-98F5-998F102E4EDA}"/>
              </a:ext>
            </a:extLst>
          </p:cNvPr>
          <p:cNvSpPr>
            <a:spLocks noGrp="1"/>
          </p:cNvSpPr>
          <p:nvPr/>
        </p:nvSpPr>
        <p:spPr>
          <a:xfrm>
            <a:off x="7696200" y="382905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38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38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人工介入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3EE7F7-78BE-4B2B-B02C-7D04F5D0CB31}"/>
              </a:ext>
            </a:extLst>
          </p:cNvPr>
          <p:cNvSpPr>
            <a:spLocks noGrp="1"/>
          </p:cNvSpPr>
          <p:nvPr/>
        </p:nvSpPr>
        <p:spPr>
          <a:xfrm>
            <a:off x="7696200" y="4114800"/>
            <a:ext cx="1162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风险高 / 信息不足</a:t>
            </a:r>
          </a:p>
        </p:txBody>
      </p:sp>
      <p:cxnSp>
        <p:nvCxnSpPr>
          <p:cNvPr id="82" name="直线箭头连接符 81"/>
          <p:cNvCxnSpPr>
            <a:stCxn id="26" idx="2"/>
            <a:endCxn id="29" idx="0"/>
          </p:cNvCxnSpPr>
          <p:nvPr/>
        </p:nvCxnSpPr>
        <p:spPr>
          <a:xfrm flipH="1">
            <a:off x="10182225" y="3105150"/>
            <a:ext cx="9525" cy="609600"/>
          </a:xfrm>
          <a:prstGeom prst="straightConnector1">
            <a:avLst/>
          </a:prstGeom>
          <a:ln w="13335">
            <a:solidFill>
              <a:srgbClr val="0F8A5F"/>
            </a:solidFill>
            <a:prstDash val="solid"/>
            <a:tailEnd type="arrow" w="sm" len="sm"/>
          </a:ln>
        </p:spPr>
      </p:cxnSp>
      <p:cxnSp>
        <p:nvCxnSpPr>
          <p:cNvPr id="83" name="直线箭头连接符 82"/>
          <p:cNvCxnSpPr>
            <a:stCxn id="26" idx="1"/>
            <a:endCxn id="32" idx="0"/>
          </p:cNvCxnSpPr>
          <p:nvPr/>
        </p:nvCxnSpPr>
        <p:spPr>
          <a:xfrm flipH="1">
            <a:off x="8277225" y="2609850"/>
            <a:ext cx="1362075" cy="1104900"/>
          </a:xfrm>
          <a:prstGeom prst="straightConnector1">
            <a:avLst/>
          </a:prstGeom>
          <a:ln w="13335">
            <a:solidFill>
              <a:srgbClr val="C7000B"/>
            </a:solidFill>
            <a:prstDash val="solid"/>
            <a:tailEnd type="arrow" w="sm" len="sm"/>
          </a:ln>
        </p:spPr>
      </p:cxn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7948055A-CD23-43FF-BD51-749DAE9217A0}"/>
              </a:ext>
            </a:extLst>
          </p:cNvPr>
          <p:cNvSpPr>
            <a:spLocks noGrp="1"/>
          </p:cNvSpPr>
          <p:nvPr/>
        </p:nvSpPr>
        <p:spPr>
          <a:xfrm>
            <a:off x="4114800" y="3905250"/>
            <a:ext cx="1885950" cy="381000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CF44E19-D853-4E7A-8D0D-B9A722735C08}"/>
              </a:ext>
            </a:extLst>
          </p:cNvPr>
          <p:cNvSpPr>
            <a:spLocks noGrp="1"/>
          </p:cNvSpPr>
          <p:nvPr/>
        </p:nvSpPr>
        <p:spPr>
          <a:xfrm>
            <a:off x="4267200" y="4000500"/>
            <a:ext cx="1581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863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继续：带着反馈回到计划</a:t>
            </a:r>
          </a:p>
        </p:txBody>
      </p:sp>
      <p:cxnSp>
        <p:nvCxnSpPr>
          <p:cNvPr id="86" name="直线箭头连接符 85"/>
          <p:cNvCxnSpPr>
            <a:stCxn id="26" idx="1"/>
            <a:endCxn id="37" idx="3"/>
          </p:cNvCxnSpPr>
          <p:nvPr/>
        </p:nvCxnSpPr>
        <p:spPr>
          <a:xfrm flipH="1">
            <a:off x="6000750" y="2609850"/>
            <a:ext cx="3638550" cy="1485900"/>
          </a:xfrm>
          <a:prstGeom prst="straightConnector1">
            <a:avLst/>
          </a:prstGeom>
          <a:ln w="11430">
            <a:solidFill>
              <a:srgbClr val="C7000B"/>
            </a:solidFill>
            <a:prstDash val="dash"/>
            <a:tailEnd type="arrow" w="sm" len="sm"/>
          </a:ln>
        </p:spPr>
      </p:cxnSp>
      <p:cxnSp>
        <p:nvCxnSpPr>
          <p:cNvPr id="87" name="直线箭头连接符 86"/>
          <p:cNvCxnSpPr>
            <a:stCxn id="37" idx="0"/>
            <a:endCxn id="13" idx="2"/>
          </p:cNvCxnSpPr>
          <p:nvPr/>
        </p:nvCxnSpPr>
        <p:spPr>
          <a:xfrm flipV="1">
            <a:off x="5057775" y="2971800"/>
            <a:ext cx="457200" cy="933450"/>
          </a:xfrm>
          <a:prstGeom prst="straightConnector1">
            <a:avLst/>
          </a:prstGeom>
          <a:ln w="11430">
            <a:solidFill>
              <a:srgbClr val="C7000B"/>
            </a:solidFill>
            <a:prstDash val="dash"/>
            <a:tailEnd type="arrow" w="sm" len="sm"/>
          </a:ln>
        </p:spPr>
      </p:cxnSp>
      <p:sp>
        <p:nvSpPr>
          <p:cNvPr id="41" name="最小组成清单">
            <a:extLst>
              <a:ext uri="{FF2B5EF4-FFF2-40B4-BE49-F238E27FC236}">
                <a16:creationId xmlns:a16="http://schemas.microsoft.com/office/drawing/2014/main" id="{0E94A898-968D-47F8-9424-D0F5372EF64B}"/>
              </a:ext>
            </a:extLst>
          </p:cNvPr>
          <p:cNvSpPr>
            <a:spLocks noGrp="1"/>
          </p:cNvSpPr>
          <p:nvPr/>
        </p:nvSpPr>
        <p:spPr>
          <a:xfrm>
            <a:off x="1028700" y="4743450"/>
            <a:ext cx="2876550" cy="1371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AFF8419-5720-4684-8699-868A00DAF0E1}"/>
              </a:ext>
            </a:extLst>
          </p:cNvPr>
          <p:cNvSpPr>
            <a:spLocks noGrp="1"/>
          </p:cNvSpPr>
          <p:nvPr/>
        </p:nvSpPr>
        <p:spPr>
          <a:xfrm>
            <a:off x="1162050" y="485775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最小组成清单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7339066-8D52-4E87-A1C0-4919C2018F3B}"/>
              </a:ext>
            </a:extLst>
          </p:cNvPr>
          <p:cNvSpPr>
            <a:spLocks noGrp="1"/>
          </p:cNvSpPr>
          <p:nvPr/>
        </p:nvSpPr>
        <p:spPr>
          <a:xfrm>
            <a:off x="1162050" y="5143500"/>
            <a:ext cx="26098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任务目标</a:t>
            </a:r>
          </a:p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上下文资料</a:t>
            </a:r>
          </a:p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可调用工具</a:t>
            </a:r>
          </a:p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状态记录</a:t>
            </a:r>
          </a:p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停止条件</a:t>
            </a:r>
          </a:p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人工介入</a:t>
            </a:r>
          </a:p>
        </p:txBody>
      </p:sp>
      <p:sp>
        <p:nvSpPr>
          <p:cNvPr id="44" name="关键边界">
            <a:extLst>
              <a:ext uri="{FF2B5EF4-FFF2-40B4-BE49-F238E27FC236}">
                <a16:creationId xmlns:a16="http://schemas.microsoft.com/office/drawing/2014/main" id="{29C35B19-165C-4659-8E03-0800BFF1CD99}"/>
              </a:ext>
            </a:extLst>
          </p:cNvPr>
          <p:cNvSpPr>
            <a:spLocks noGrp="1"/>
          </p:cNvSpPr>
          <p:nvPr/>
        </p:nvSpPr>
        <p:spPr>
          <a:xfrm>
            <a:off x="4324350" y="4819650"/>
            <a:ext cx="6419850" cy="85725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ECEF0FC-295E-49D5-AD10-06C236685594}"/>
              </a:ext>
            </a:extLst>
          </p:cNvPr>
          <p:cNvSpPr>
            <a:spLocks noGrp="1"/>
          </p:cNvSpPr>
          <p:nvPr/>
        </p:nvSpPr>
        <p:spPr>
          <a:xfrm>
            <a:off x="4457700" y="4933950"/>
            <a:ext cx="615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关键边界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A225242-7DCD-4C0E-BC7F-F3ABC8C4588E}"/>
              </a:ext>
            </a:extLst>
          </p:cNvPr>
          <p:cNvSpPr>
            <a:spLocks noGrp="1"/>
          </p:cNvSpPr>
          <p:nvPr/>
        </p:nvSpPr>
        <p:spPr>
          <a:xfrm>
            <a:off x="4457700" y="5219700"/>
            <a:ext cx="615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不应该无限循环，也不应该在高风险动作上自动拍板。最小可用不等于无人监管。</a:t>
            </a:r>
          </a:p>
        </p:txBody>
      </p:sp>
      <p:sp>
        <p:nvSpPr>
          <p:cNvPr id="47" name="footer">
            <a:extLst>
              <a:ext uri="{FF2B5EF4-FFF2-40B4-BE49-F238E27FC236}">
                <a16:creationId xmlns:a16="http://schemas.microsoft.com/office/drawing/2014/main" id="{063880A6-E093-4A4C-B7DE-1E4D797A719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1685748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op-red-line">
            <a:extLst>
              <a:ext uri="{FF2B5EF4-FFF2-40B4-BE49-F238E27FC236}">
                <a16:creationId xmlns:a16="http://schemas.microsoft.com/office/drawing/2014/main" id="{2C29C9AD-4736-4C92-9FC9-6973F32FEA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A77E5CAB-5AC2-4BA3-BA95-D70FD4C9554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1773969-ECC7-4181-87F6-479025FE9EB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真实场景：需求变更分析 Agent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3DBEB722-A225-42D2-BF68-BD452AA4CC01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05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B0F151D9-E8C5-40A7-AFC6-77447AE8B92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40E5E0-2302-4C12-86B4-3476582BA84C}"/>
              </a:ext>
            </a:extLst>
          </p:cNvPr>
          <p:cNvSpPr>
            <a:spLocks noGrp="1"/>
          </p:cNvSpPr>
          <p:nvPr/>
        </p:nvSpPr>
        <p:spPr>
          <a:xfrm>
            <a:off x="723900" y="1485900"/>
            <a:ext cx="1028700" cy="628650"/>
          </a:xfrm>
          <a:prstGeom prst="rect">
            <a:avLst/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679C36-5070-4322-9B3C-8EE3447500EF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BA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E7B0F796-8619-443B-8DF0-0DEEF854F24F}"/>
              </a:ext>
            </a:extLst>
          </p:cNvPr>
          <p:cNvSpPr>
            <a:spLocks noGrp="1"/>
          </p:cNvSpPr>
          <p:nvPr/>
        </p:nvSpPr>
        <p:spPr>
          <a:xfrm>
            <a:off x="1752600" y="2114550"/>
            <a:ext cx="9144000" cy="0"/>
          </a:xfrm>
          <a:prstGeom prst="line">
            <a:avLst/>
          </a:prstGeom>
          <a:noFill/>
          <a:ln w="6668">
            <a:solidFill>
              <a:srgbClr val="D9DDE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964A12-BB4F-4865-8B3A-F1BB88CB3B5A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1028700" cy="628650"/>
          </a:xfrm>
          <a:prstGeom prst="rect">
            <a:avLst/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97BA3-E4C9-4823-A0B5-5B2BA0A04DC8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SE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128F676A-9B24-4900-9B4C-633C7EEB9903}"/>
              </a:ext>
            </a:extLst>
          </p:cNvPr>
          <p:cNvSpPr>
            <a:spLocks noGrp="1"/>
          </p:cNvSpPr>
          <p:nvPr/>
        </p:nvSpPr>
        <p:spPr>
          <a:xfrm>
            <a:off x="1752600" y="2895600"/>
            <a:ext cx="9144000" cy="0"/>
          </a:xfrm>
          <a:prstGeom prst="line">
            <a:avLst/>
          </a:prstGeom>
          <a:noFill/>
          <a:ln w="6668">
            <a:solidFill>
              <a:srgbClr val="D9DDE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919279-FE10-4EFD-B394-2F5B43924A8C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1028700" cy="628650"/>
          </a:xfrm>
          <a:prstGeom prst="rect">
            <a:avLst/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571E33-ABE3-4C19-B312-B6AC10C42560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开发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1C7B9A09-4A14-47D4-8D1A-0978AEE07FAE}"/>
              </a:ext>
            </a:extLst>
          </p:cNvPr>
          <p:cNvSpPr>
            <a:spLocks noGrp="1"/>
          </p:cNvSpPr>
          <p:nvPr/>
        </p:nvSpPr>
        <p:spPr>
          <a:xfrm>
            <a:off x="1752600" y="3676650"/>
            <a:ext cx="9144000" cy="0"/>
          </a:xfrm>
          <a:prstGeom prst="line">
            <a:avLst/>
          </a:prstGeom>
          <a:noFill/>
          <a:ln w="6668">
            <a:solidFill>
              <a:srgbClr val="D9DDE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65E059-7AFF-44AD-907E-3353A484D0BC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1028700" cy="628650"/>
          </a:xfrm>
          <a:prstGeom prst="rect">
            <a:avLst/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D3E258-1E4D-4C40-B8F3-8AB609EE86EA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测试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9D73990A-EE1D-4E01-B6D6-4F5DC9BF79A4}"/>
              </a:ext>
            </a:extLst>
          </p:cNvPr>
          <p:cNvSpPr>
            <a:spLocks noGrp="1"/>
          </p:cNvSpPr>
          <p:nvPr/>
        </p:nvSpPr>
        <p:spPr>
          <a:xfrm>
            <a:off x="1752600" y="4457700"/>
            <a:ext cx="9144000" cy="0"/>
          </a:xfrm>
          <a:prstGeom prst="line">
            <a:avLst/>
          </a:prstGeom>
          <a:noFill/>
          <a:ln w="6668">
            <a:solidFill>
              <a:srgbClr val="D9DDE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2953FF-13B9-4D2B-9473-C20EBE31A16C}"/>
              </a:ext>
            </a:extLst>
          </p:cNvPr>
          <p:cNvSpPr>
            <a:spLocks noGrp="1"/>
          </p:cNvSpPr>
          <p:nvPr/>
        </p:nvSpPr>
        <p:spPr>
          <a:xfrm>
            <a:off x="723900" y="4610100"/>
            <a:ext cx="1028700" cy="628650"/>
          </a:xfrm>
          <a:prstGeom prst="rect">
            <a:avLst/>
          </a:prstGeom>
          <a:solidFill>
            <a:srgbClr val="FBE7E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3CDF30-B9AF-4CD7-9072-8DB7ADC5A550}"/>
              </a:ext>
            </a:extLst>
          </p:cNvPr>
          <p:cNvSpPr>
            <a:spLocks noGrp="1"/>
          </p:cNvSpPr>
          <p:nvPr/>
        </p:nvSpPr>
        <p:spPr>
          <a:xfrm>
            <a:off x="914400" y="48196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2C9FA049-EB78-4242-BF73-A7615437D058}"/>
              </a:ext>
            </a:extLst>
          </p:cNvPr>
          <p:cNvSpPr>
            <a:spLocks noGrp="1"/>
          </p:cNvSpPr>
          <p:nvPr/>
        </p:nvSpPr>
        <p:spPr>
          <a:xfrm>
            <a:off x="1752600" y="5238750"/>
            <a:ext cx="9144000" cy="0"/>
          </a:xfrm>
          <a:prstGeom prst="line">
            <a:avLst/>
          </a:prstGeom>
          <a:noFill/>
          <a:ln w="6668">
            <a:solidFill>
              <a:srgbClr val="D9DDE3"/>
            </a:solidFill>
            <a:prstDash val="solid"/>
          </a:ln>
        </p:spPr>
      </p:sp>
      <p:sp>
        <p:nvSpPr>
          <p:cNvPr id="21" name="输入变更">
            <a:extLst>
              <a:ext uri="{FF2B5EF4-FFF2-40B4-BE49-F238E27FC236}">
                <a16:creationId xmlns:a16="http://schemas.microsoft.com/office/drawing/2014/main" id="{78A8D5EE-E0F4-4589-AB4D-1A8096149712}"/>
              </a:ext>
            </a:extLst>
          </p:cNvPr>
          <p:cNvSpPr>
            <a:spLocks noGrp="1"/>
          </p:cNvSpPr>
          <p:nvPr/>
        </p:nvSpPr>
        <p:spPr>
          <a:xfrm>
            <a:off x="2095500" y="1657350"/>
            <a:ext cx="10668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FEA512-2464-49A4-9DF0-398C0ABD5136}"/>
              </a:ext>
            </a:extLst>
          </p:cNvPr>
          <p:cNvSpPr>
            <a:spLocks noGrp="1"/>
          </p:cNvSpPr>
          <p:nvPr/>
        </p:nvSpPr>
        <p:spPr>
          <a:xfrm>
            <a:off x="2228850" y="17716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输入变更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575CFB-35CC-4F90-A933-473F55C128FE}"/>
              </a:ext>
            </a:extLst>
          </p:cNvPr>
          <p:cNvSpPr>
            <a:spLocks noGrp="1"/>
          </p:cNvSpPr>
          <p:nvPr/>
        </p:nvSpPr>
        <p:spPr>
          <a:xfrm>
            <a:off x="2228850" y="2057400"/>
            <a:ext cx="80010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66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66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PRD / 会议纪要</a:t>
            </a:r>
          </a:p>
        </p:txBody>
      </p:sp>
      <p:sp>
        <p:nvSpPr>
          <p:cNvPr id="24" name="读取资料">
            <a:extLst>
              <a:ext uri="{FF2B5EF4-FFF2-40B4-BE49-F238E27FC236}">
                <a16:creationId xmlns:a16="http://schemas.microsoft.com/office/drawing/2014/main" id="{D91D9E0A-59F8-4656-9788-FFA897776CE1}"/>
              </a:ext>
            </a:extLst>
          </p:cNvPr>
          <p:cNvSpPr>
            <a:spLocks noGrp="1"/>
          </p:cNvSpPr>
          <p:nvPr/>
        </p:nvSpPr>
        <p:spPr>
          <a:xfrm>
            <a:off x="3543300" y="4781550"/>
            <a:ext cx="1066800" cy="514350"/>
          </a:xfrm>
          <a:prstGeom prst="roundRect">
            <a:avLst>
              <a:gd name="adj" fmla="val 11111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C36A45-AAD9-4F0B-93DB-DC631833E787}"/>
              </a:ext>
            </a:extLst>
          </p:cNvPr>
          <p:cNvSpPr>
            <a:spLocks noGrp="1"/>
          </p:cNvSpPr>
          <p:nvPr/>
        </p:nvSpPr>
        <p:spPr>
          <a:xfrm>
            <a:off x="3676650" y="4895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读取资料</a:t>
            </a:r>
          </a:p>
        </p:txBody>
      </p:sp>
      <p:sp>
        <p:nvSpPr>
          <p:cNvPr id="26" name="提取变更点">
            <a:extLst>
              <a:ext uri="{FF2B5EF4-FFF2-40B4-BE49-F238E27FC236}">
                <a16:creationId xmlns:a16="http://schemas.microsoft.com/office/drawing/2014/main" id="{4F71049D-FE49-4999-AB65-13712AAA9417}"/>
              </a:ext>
            </a:extLst>
          </p:cNvPr>
          <p:cNvSpPr>
            <a:spLocks noGrp="1"/>
          </p:cNvSpPr>
          <p:nvPr/>
        </p:nvSpPr>
        <p:spPr>
          <a:xfrm>
            <a:off x="4991100" y="4781550"/>
            <a:ext cx="1066800" cy="514350"/>
          </a:xfrm>
          <a:prstGeom prst="roundRect">
            <a:avLst>
              <a:gd name="adj" fmla="val 11111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346049-5FCB-4122-9B5F-22C2FBBDF295}"/>
              </a:ext>
            </a:extLst>
          </p:cNvPr>
          <p:cNvSpPr>
            <a:spLocks noGrp="1"/>
          </p:cNvSpPr>
          <p:nvPr/>
        </p:nvSpPr>
        <p:spPr>
          <a:xfrm>
            <a:off x="5124450" y="4895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提取变更点</a:t>
            </a:r>
          </a:p>
        </p:txBody>
      </p:sp>
      <p:sp>
        <p:nvSpPr>
          <p:cNvPr id="28" name="生成影响范围">
            <a:extLst>
              <a:ext uri="{FF2B5EF4-FFF2-40B4-BE49-F238E27FC236}">
                <a16:creationId xmlns:a16="http://schemas.microsoft.com/office/drawing/2014/main" id="{76C883DD-D23D-46A7-B61A-0C71CAE1E9C6}"/>
              </a:ext>
            </a:extLst>
          </p:cNvPr>
          <p:cNvSpPr>
            <a:spLocks noGrp="1"/>
          </p:cNvSpPr>
          <p:nvPr/>
        </p:nvSpPr>
        <p:spPr>
          <a:xfrm>
            <a:off x="6438900" y="4781550"/>
            <a:ext cx="1066800" cy="514350"/>
          </a:xfrm>
          <a:prstGeom prst="roundRect">
            <a:avLst>
              <a:gd name="adj" fmla="val 11111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65D8C1-4671-44B8-AB3A-0609CCDDB476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生成影响范围</a:t>
            </a:r>
          </a:p>
        </p:txBody>
      </p:sp>
      <p:sp>
        <p:nvSpPr>
          <p:cNvPr id="30" name="分角色草稿">
            <a:extLst>
              <a:ext uri="{FF2B5EF4-FFF2-40B4-BE49-F238E27FC236}">
                <a16:creationId xmlns:a16="http://schemas.microsoft.com/office/drawing/2014/main" id="{E4FAE08F-C64B-416B-A594-F4CF89AEE165}"/>
              </a:ext>
            </a:extLst>
          </p:cNvPr>
          <p:cNvSpPr>
            <a:spLocks noGrp="1"/>
          </p:cNvSpPr>
          <p:nvPr/>
        </p:nvSpPr>
        <p:spPr>
          <a:xfrm>
            <a:off x="7886700" y="4781550"/>
            <a:ext cx="1066800" cy="514350"/>
          </a:xfrm>
          <a:prstGeom prst="roundRect">
            <a:avLst>
              <a:gd name="adj" fmla="val 11111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E49A37-843E-4A44-806E-E60568058853}"/>
              </a:ext>
            </a:extLst>
          </p:cNvPr>
          <p:cNvSpPr>
            <a:spLocks noGrp="1"/>
          </p:cNvSpPr>
          <p:nvPr/>
        </p:nvSpPr>
        <p:spPr>
          <a:xfrm>
            <a:off x="8020050" y="4895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分角色草稿</a:t>
            </a:r>
          </a:p>
        </p:txBody>
      </p:sp>
      <p:sp>
        <p:nvSpPr>
          <p:cNvPr id="32" name="人工确认">
            <a:extLst>
              <a:ext uri="{FF2B5EF4-FFF2-40B4-BE49-F238E27FC236}">
                <a16:creationId xmlns:a16="http://schemas.microsoft.com/office/drawing/2014/main" id="{4C43F188-550C-42FA-AF31-51BA93EFE896}"/>
              </a:ext>
            </a:extLst>
          </p:cNvPr>
          <p:cNvSpPr>
            <a:spLocks noGrp="1"/>
          </p:cNvSpPr>
          <p:nvPr/>
        </p:nvSpPr>
        <p:spPr>
          <a:xfrm>
            <a:off x="9334500" y="1657350"/>
            <a:ext cx="10668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F419160-1BDA-4DCB-B27E-D2329DDCB59C}"/>
              </a:ext>
            </a:extLst>
          </p:cNvPr>
          <p:cNvSpPr>
            <a:spLocks noGrp="1"/>
          </p:cNvSpPr>
          <p:nvPr/>
        </p:nvSpPr>
        <p:spPr>
          <a:xfrm>
            <a:off x="9467850" y="17716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人工确认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18F964A-61AC-4932-9A89-B616AD7A1F60}"/>
              </a:ext>
            </a:extLst>
          </p:cNvPr>
          <p:cNvSpPr>
            <a:spLocks noGrp="1"/>
          </p:cNvSpPr>
          <p:nvPr/>
        </p:nvSpPr>
        <p:spPr>
          <a:xfrm>
            <a:off x="9467850" y="2057400"/>
            <a:ext cx="80010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66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66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确认 / 取舍</a:t>
            </a:r>
          </a:p>
        </p:txBody>
      </p:sp>
      <p:cxnSp>
        <p:nvCxnSpPr>
          <p:cNvPr id="90" name="直线箭头连接符 89"/>
          <p:cNvCxnSpPr>
            <a:stCxn id="24" idx="3"/>
            <a:endCxn id="26" idx="1"/>
          </p:cNvCxnSpPr>
          <p:nvPr/>
        </p:nvCxnSpPr>
        <p:spPr>
          <a:xfrm>
            <a:off x="4610100" y="5038725"/>
            <a:ext cx="381000" cy="0"/>
          </a:xfrm>
          <a:prstGeom prst="straightConnector1">
            <a:avLst/>
          </a:prstGeom>
          <a:ln w="13335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91" name="直线箭头连接符 90"/>
          <p:cNvCxnSpPr>
            <a:stCxn id="26" idx="3"/>
            <a:endCxn id="28" idx="1"/>
          </p:cNvCxnSpPr>
          <p:nvPr/>
        </p:nvCxnSpPr>
        <p:spPr>
          <a:xfrm>
            <a:off x="6057900" y="5038725"/>
            <a:ext cx="381000" cy="0"/>
          </a:xfrm>
          <a:prstGeom prst="straightConnector1">
            <a:avLst/>
          </a:prstGeom>
          <a:ln w="13335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92" name="直线箭头连接符 91"/>
          <p:cNvCxnSpPr>
            <a:stCxn id="28" idx="3"/>
            <a:endCxn id="30" idx="1"/>
          </p:cNvCxnSpPr>
          <p:nvPr/>
        </p:nvCxnSpPr>
        <p:spPr>
          <a:xfrm>
            <a:off x="7505700" y="5038725"/>
            <a:ext cx="381000" cy="0"/>
          </a:xfrm>
          <a:prstGeom prst="straightConnector1">
            <a:avLst/>
          </a:prstGeom>
          <a:ln w="13335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93" name="肘形连接符 92"/>
          <p:cNvCxnSpPr>
            <a:stCxn id="21" idx="2"/>
            <a:endCxn id="24" idx="1"/>
          </p:cNvCxnSpPr>
          <p:nvPr/>
        </p:nvCxnSpPr>
        <p:spPr>
          <a:xfrm>
            <a:off x="2628900" y="2171700"/>
            <a:ext cx="914400" cy="2867025"/>
          </a:xfrm>
          <a:prstGeom prst="bentConnector5">
            <a:avLst>
              <a:gd name="adj1" fmla="val 0"/>
              <a:gd name="adj2" fmla="val 7973"/>
              <a:gd name="adj3" fmla="val 75000"/>
            </a:avLst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94" name="肘形连接符 93"/>
          <p:cNvCxnSpPr>
            <a:stCxn id="30" idx="0"/>
            <a:endCxn id="32" idx="2"/>
          </p:cNvCxnSpPr>
          <p:nvPr/>
        </p:nvCxnSpPr>
        <p:spPr>
          <a:xfrm flipV="1">
            <a:off x="8420100" y="2171700"/>
            <a:ext cx="1447800" cy="26098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sp>
        <p:nvSpPr>
          <p:cNvPr id="40" name="BA 输出">
            <a:extLst>
              <a:ext uri="{FF2B5EF4-FFF2-40B4-BE49-F238E27FC236}">
                <a16:creationId xmlns:a16="http://schemas.microsoft.com/office/drawing/2014/main" id="{7518923D-1264-4EFE-ADB9-14FBBD733B31}"/>
              </a:ext>
            </a:extLst>
          </p:cNvPr>
          <p:cNvSpPr>
            <a:spLocks noGrp="1"/>
          </p:cNvSpPr>
          <p:nvPr/>
        </p:nvSpPr>
        <p:spPr>
          <a:xfrm>
            <a:off x="7953375" y="1657350"/>
            <a:ext cx="12763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0B54BD8-EC4B-4A88-9919-67FEE40E01FB}"/>
              </a:ext>
            </a:extLst>
          </p:cNvPr>
          <p:cNvSpPr>
            <a:spLocks noGrp="1"/>
          </p:cNvSpPr>
          <p:nvPr/>
        </p:nvSpPr>
        <p:spPr>
          <a:xfrm>
            <a:off x="8086725" y="1771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863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BA 输出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3CA183F-27AF-42E8-B6BF-41556A8D1E79}"/>
              </a:ext>
            </a:extLst>
          </p:cNvPr>
          <p:cNvSpPr>
            <a:spLocks noGrp="1"/>
          </p:cNvSpPr>
          <p:nvPr/>
        </p:nvSpPr>
        <p:spPr>
          <a:xfrm>
            <a:off x="8086725" y="2057400"/>
            <a:ext cx="1009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变更摘要</a:t>
            </a:r>
          </a:p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待澄清问题</a:t>
            </a:r>
          </a:p>
        </p:txBody>
      </p:sp>
      <p:sp>
        <p:nvSpPr>
          <p:cNvPr id="43" name="SE 输出">
            <a:extLst>
              <a:ext uri="{FF2B5EF4-FFF2-40B4-BE49-F238E27FC236}">
                <a16:creationId xmlns:a16="http://schemas.microsoft.com/office/drawing/2014/main" id="{C9C6ECDD-F163-4E80-B178-AF30E1997560}"/>
              </a:ext>
            </a:extLst>
          </p:cNvPr>
          <p:cNvSpPr>
            <a:spLocks noGrp="1"/>
          </p:cNvSpPr>
          <p:nvPr/>
        </p:nvSpPr>
        <p:spPr>
          <a:xfrm>
            <a:off x="7953375" y="2438400"/>
            <a:ext cx="12763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938DE44-753A-4F2A-A7F3-50E7C699FBC8}"/>
              </a:ext>
            </a:extLst>
          </p:cNvPr>
          <p:cNvSpPr>
            <a:spLocks noGrp="1"/>
          </p:cNvSpPr>
          <p:nvPr/>
        </p:nvSpPr>
        <p:spPr>
          <a:xfrm>
            <a:off x="8086725" y="255270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863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SE 输出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A3FA5C2-509C-4D0C-912E-58806FADDC41}"/>
              </a:ext>
            </a:extLst>
          </p:cNvPr>
          <p:cNvSpPr>
            <a:spLocks noGrp="1"/>
          </p:cNvSpPr>
          <p:nvPr/>
        </p:nvSpPr>
        <p:spPr>
          <a:xfrm>
            <a:off x="8086725" y="2838450"/>
            <a:ext cx="1009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接口 / 数据</a:t>
            </a:r>
          </a:p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上下游系统</a:t>
            </a:r>
          </a:p>
        </p:txBody>
      </p:sp>
      <p:sp>
        <p:nvSpPr>
          <p:cNvPr id="46" name="开发输出">
            <a:extLst>
              <a:ext uri="{FF2B5EF4-FFF2-40B4-BE49-F238E27FC236}">
                <a16:creationId xmlns:a16="http://schemas.microsoft.com/office/drawing/2014/main" id="{1E0BBF19-BA96-4177-B04E-80DD8CBB2A72}"/>
              </a:ext>
            </a:extLst>
          </p:cNvPr>
          <p:cNvSpPr>
            <a:spLocks noGrp="1"/>
          </p:cNvSpPr>
          <p:nvPr/>
        </p:nvSpPr>
        <p:spPr>
          <a:xfrm>
            <a:off x="7953375" y="3219450"/>
            <a:ext cx="12763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045E47-93F8-4F1C-9CB3-E01619808ECB}"/>
              </a:ext>
            </a:extLst>
          </p:cNvPr>
          <p:cNvSpPr>
            <a:spLocks noGrp="1"/>
          </p:cNvSpPr>
          <p:nvPr/>
        </p:nvSpPr>
        <p:spPr>
          <a:xfrm>
            <a:off x="8086725" y="33337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863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开发输出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4754E29-5599-447F-B029-FD63C1270A3E}"/>
              </a:ext>
            </a:extLst>
          </p:cNvPr>
          <p:cNvSpPr>
            <a:spLocks noGrp="1"/>
          </p:cNvSpPr>
          <p:nvPr/>
        </p:nvSpPr>
        <p:spPr>
          <a:xfrm>
            <a:off x="8086725" y="3619500"/>
            <a:ext cx="1009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疑似影响模块</a:t>
            </a:r>
          </a:p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代码阅读建议</a:t>
            </a:r>
          </a:p>
        </p:txBody>
      </p:sp>
      <p:sp>
        <p:nvSpPr>
          <p:cNvPr id="49" name="测试输出">
            <a:extLst>
              <a:ext uri="{FF2B5EF4-FFF2-40B4-BE49-F238E27FC236}">
                <a16:creationId xmlns:a16="http://schemas.microsoft.com/office/drawing/2014/main" id="{E3D17B30-199F-4759-9E22-2F955B34A290}"/>
              </a:ext>
            </a:extLst>
          </p:cNvPr>
          <p:cNvSpPr>
            <a:spLocks noGrp="1"/>
          </p:cNvSpPr>
          <p:nvPr/>
        </p:nvSpPr>
        <p:spPr>
          <a:xfrm>
            <a:off x="7953375" y="4000500"/>
            <a:ext cx="12763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2A0ADC2-71CA-4507-97FD-187CAC1670BE}"/>
              </a:ext>
            </a:extLst>
          </p:cNvPr>
          <p:cNvSpPr>
            <a:spLocks noGrp="1"/>
          </p:cNvSpPr>
          <p:nvPr/>
        </p:nvSpPr>
        <p:spPr>
          <a:xfrm>
            <a:off x="8086725" y="411480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863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测试输出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A5B3CF3-0BAD-4D31-803C-7B03E9C0D09E}"/>
              </a:ext>
            </a:extLst>
          </p:cNvPr>
          <p:cNvSpPr>
            <a:spLocks noGrp="1"/>
          </p:cNvSpPr>
          <p:nvPr/>
        </p:nvSpPr>
        <p:spPr>
          <a:xfrm>
            <a:off x="8086725" y="4400550"/>
            <a:ext cx="1009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回归范围</a:t>
            </a:r>
          </a:p>
          <a:p>
            <a:pPr algn="l">
              <a:lnSpc>
                <a:spcPct val="110000"/>
              </a:lnSpc>
              <a:buNone/>
              <a:def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1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边界测试点</a:t>
            </a:r>
          </a:p>
        </p:txBody>
      </p:sp>
      <p:sp>
        <p:nvSpPr>
          <p:cNvPr id="52" name="价值定位">
            <a:extLst>
              <a:ext uri="{FF2B5EF4-FFF2-40B4-BE49-F238E27FC236}">
                <a16:creationId xmlns:a16="http://schemas.microsoft.com/office/drawing/2014/main" id="{CB6C4228-9BC6-4B98-826D-55B975122D03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172700" cy="495300"/>
          </a:xfrm>
          <a:prstGeom prst="roundRect">
            <a:avLst>
              <a:gd name="adj" fmla="val 1153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635BFB8-1E2C-41E4-814C-01E27C8ED471}"/>
              </a:ext>
            </a:extLst>
          </p:cNvPr>
          <p:cNvSpPr>
            <a:spLocks noGrp="1"/>
          </p:cNvSpPr>
          <p:nvPr/>
        </p:nvSpPr>
        <p:spPr>
          <a:xfrm>
            <a:off x="857250" y="58293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价值定位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4F46BA-22B8-4FCA-B1BA-78552C74E7FE}"/>
              </a:ext>
            </a:extLst>
          </p:cNvPr>
          <p:cNvSpPr>
            <a:spLocks noGrp="1"/>
          </p:cNvSpPr>
          <p:nvPr/>
        </p:nvSpPr>
        <p:spPr>
          <a:xfrm>
            <a:off x="857250" y="6115050"/>
            <a:ext cx="99060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3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3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先完成资料整理和草稿生成，各角色负责判断、确认和最终负责。</a:t>
            </a:r>
          </a:p>
        </p:txBody>
      </p:sp>
      <p:sp>
        <p:nvSpPr>
          <p:cNvPr id="55" name="footer">
            <a:extLst>
              <a:ext uri="{FF2B5EF4-FFF2-40B4-BE49-F238E27FC236}">
                <a16:creationId xmlns:a16="http://schemas.microsoft.com/office/drawing/2014/main" id="{484454F0-48E8-4A62-AC34-7B64D68DCA0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157216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op-red-line">
            <a:extLst>
              <a:ext uri="{FF2B5EF4-FFF2-40B4-BE49-F238E27FC236}">
                <a16:creationId xmlns:a16="http://schemas.microsoft.com/office/drawing/2014/main" id="{AF771D5D-F372-44BE-81B3-9817219731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E34E049A-DD10-4E47-A0DE-E40028BF2BB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D3EFABA-4268-448F-832B-DF92FB86015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工程化 Agent 的建设框架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6A36F768-D547-4F40-859E-A75382920199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06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BFABC401-FD77-403A-B61F-55D0E9B83C2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96AEC8-40D3-482A-8EA6-FB93825CC3C2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4857750" cy="514350"/>
          </a:xfrm>
          <a:prstGeom prst="rect">
            <a:avLst/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A27873-E33C-4A1D-B197-B9006B95EBC8}"/>
              </a:ext>
            </a:extLst>
          </p:cNvPr>
          <p:cNvSpPr>
            <a:spLocks noGrp="1"/>
          </p:cNvSpPr>
          <p:nvPr/>
        </p:nvSpPr>
        <p:spPr>
          <a:xfrm>
            <a:off x="1200150" y="154305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用户入口层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9A920C-7C01-42E6-BE0E-472B20685E1A}"/>
              </a:ext>
            </a:extLst>
          </p:cNvPr>
          <p:cNvSpPr>
            <a:spLocks noGrp="1"/>
          </p:cNvSpPr>
          <p:nvPr/>
        </p:nvSpPr>
        <p:spPr>
          <a:xfrm>
            <a:off x="2571750" y="1543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Chat / 表单 / 插件 / 工作台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1F9391-1DAF-4C93-B1BC-65F2A986E10D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85775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2B2F33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56F407-05E9-42E8-A3AF-7282B00CE404}"/>
              </a:ext>
            </a:extLst>
          </p:cNvPr>
          <p:cNvSpPr>
            <a:spLocks noGrp="1"/>
          </p:cNvSpPr>
          <p:nvPr/>
        </p:nvSpPr>
        <p:spPr>
          <a:xfrm>
            <a:off x="1200150" y="222885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编排层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A81FC2-BDA6-44F8-9EF6-6FC026A64DA6}"/>
              </a:ext>
            </a:extLst>
          </p:cNvPr>
          <p:cNvSpPr>
            <a:spLocks noGrp="1"/>
          </p:cNvSpPr>
          <p:nvPr/>
        </p:nvSpPr>
        <p:spPr>
          <a:xfrm>
            <a:off x="2571750" y="22288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任务拆解 / 计划 / 状态机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5C75B5-5F7D-4545-8273-888F944CF5C9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485775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2F68C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102481-7556-4288-A49B-ED0E4448AC04}"/>
              </a:ext>
            </a:extLst>
          </p:cNvPr>
          <p:cNvSpPr>
            <a:spLocks noGrp="1"/>
          </p:cNvSpPr>
          <p:nvPr/>
        </p:nvSpPr>
        <p:spPr>
          <a:xfrm>
            <a:off x="1200150" y="291465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2F68C5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F68C5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上下文层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92B1AF-8CA4-4986-9942-DFA1CD8C7116}"/>
              </a:ext>
            </a:extLst>
          </p:cNvPr>
          <p:cNvSpPr>
            <a:spLocks noGrp="1"/>
          </p:cNvSpPr>
          <p:nvPr/>
        </p:nvSpPr>
        <p:spPr>
          <a:xfrm>
            <a:off x="2571750" y="29146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知识库 / 业务资料 / 历史记录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FE78CF-DA7A-49FD-8EA5-31B7D194F469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485775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0F8A5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91D55B-0577-4AFB-A4E5-95019B26DD7F}"/>
              </a:ext>
            </a:extLst>
          </p:cNvPr>
          <p:cNvSpPr>
            <a:spLocks noGrp="1"/>
          </p:cNvSpPr>
          <p:nvPr/>
        </p:nvSpPr>
        <p:spPr>
          <a:xfrm>
            <a:off x="1200150" y="360045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工具层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A90F94-4CFF-43A9-823B-778A94FD9E5B}"/>
              </a:ext>
            </a:extLst>
          </p:cNvPr>
          <p:cNvSpPr>
            <a:spLocks noGrp="1"/>
          </p:cNvSpPr>
          <p:nvPr/>
        </p:nvSpPr>
        <p:spPr>
          <a:xfrm>
            <a:off x="2571750" y="36004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API / 文件 / 代码 / 系统操作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D190E3-C7B2-4093-B0ED-7E58BDF554F7}"/>
              </a:ext>
            </a:extLst>
          </p:cNvPr>
          <p:cNvSpPr>
            <a:spLocks noGrp="1"/>
          </p:cNvSpPr>
          <p:nvPr/>
        </p:nvSpPr>
        <p:spPr>
          <a:xfrm>
            <a:off x="952500" y="4152900"/>
            <a:ext cx="4857750" cy="514350"/>
          </a:xfrm>
          <a:prstGeom prst="rect">
            <a:avLst/>
          </a:prstGeom>
          <a:solidFill>
            <a:srgbClr val="FFF4E6"/>
          </a:solidFill>
          <a:ln w="9525">
            <a:solidFill>
              <a:srgbClr val="B75E0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85ACD9-D461-444F-98C7-2D1A4BF1DB32}"/>
              </a:ext>
            </a:extLst>
          </p:cNvPr>
          <p:cNvSpPr>
            <a:spLocks noGrp="1"/>
          </p:cNvSpPr>
          <p:nvPr/>
        </p:nvSpPr>
        <p:spPr>
          <a:xfrm>
            <a:off x="1200150" y="428625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控制层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A8520FE-31F4-4A1A-AE2D-13D36BA47B24}"/>
              </a:ext>
            </a:extLst>
          </p:cNvPr>
          <p:cNvSpPr>
            <a:spLocks noGrp="1"/>
          </p:cNvSpPr>
          <p:nvPr/>
        </p:nvSpPr>
        <p:spPr>
          <a:xfrm>
            <a:off x="2571750" y="42862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权限 / 审批 / 日志 / 回滚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CA6865-4F8F-4C74-A77E-0220D2704DAA}"/>
              </a:ext>
            </a:extLst>
          </p:cNvPr>
          <p:cNvSpPr>
            <a:spLocks noGrp="1"/>
          </p:cNvSpPr>
          <p:nvPr/>
        </p:nvSpPr>
        <p:spPr>
          <a:xfrm>
            <a:off x="952500" y="4838700"/>
            <a:ext cx="4857750" cy="514350"/>
          </a:xfrm>
          <a:prstGeom prst="rect">
            <a:avLst/>
          </a:prstGeom>
          <a:solidFill>
            <a:srgbClr val="ECEFF3"/>
          </a:solidFill>
          <a:ln w="9525">
            <a:solidFill>
              <a:srgbClr val="2B2F3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DC2A35-677C-483C-A5A1-36F811C5B102}"/>
              </a:ext>
            </a:extLst>
          </p:cNvPr>
          <p:cNvSpPr>
            <a:spLocks noGrp="1"/>
          </p:cNvSpPr>
          <p:nvPr/>
        </p:nvSpPr>
        <p:spPr>
          <a:xfrm>
            <a:off x="1200150" y="497205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评估层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CBAE4D-EC1D-44D1-AD1B-630FD46CFBD9}"/>
              </a:ext>
            </a:extLst>
          </p:cNvPr>
          <p:cNvSpPr>
            <a:spLocks noGrp="1"/>
          </p:cNvSpPr>
          <p:nvPr/>
        </p:nvSpPr>
        <p:spPr>
          <a:xfrm>
            <a:off x="2571750" y="4972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准确率 / 耗时 / 成本 / 满意度</a:t>
            </a:r>
          </a:p>
        </p:txBody>
      </p:sp>
      <p:sp>
        <p:nvSpPr>
          <p:cNvPr id="24" name="工具不是越多越好">
            <a:extLst>
              <a:ext uri="{FF2B5EF4-FFF2-40B4-BE49-F238E27FC236}">
                <a16:creationId xmlns:a16="http://schemas.microsoft.com/office/drawing/2014/main" id="{73803BD5-8374-482B-A788-03A844CBDFC2}"/>
              </a:ext>
            </a:extLst>
          </p:cNvPr>
          <p:cNvSpPr>
            <a:spLocks noGrp="1"/>
          </p:cNvSpPr>
          <p:nvPr/>
        </p:nvSpPr>
        <p:spPr>
          <a:xfrm>
            <a:off x="6705600" y="1485900"/>
            <a:ext cx="381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875F96-A58E-4ED2-8B9B-33E2B58948C0}"/>
              </a:ext>
            </a:extLst>
          </p:cNvPr>
          <p:cNvSpPr>
            <a:spLocks noGrp="1"/>
          </p:cNvSpPr>
          <p:nvPr/>
        </p:nvSpPr>
        <p:spPr>
          <a:xfrm>
            <a:off x="6838950" y="160020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工具不是越多越好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E838880-2E30-44E5-9F6A-7AB9C1597193}"/>
              </a:ext>
            </a:extLst>
          </p:cNvPr>
          <p:cNvSpPr>
            <a:spLocks noGrp="1"/>
          </p:cNvSpPr>
          <p:nvPr/>
        </p:nvSpPr>
        <p:spPr>
          <a:xfrm>
            <a:off x="6838950" y="1885950"/>
            <a:ext cx="3543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要可控、可审计、可回滚</a:t>
            </a:r>
          </a:p>
        </p:txBody>
      </p:sp>
      <p:sp>
        <p:nvSpPr>
          <p:cNvPr id="27" name="上下文不是越长越好">
            <a:extLst>
              <a:ext uri="{FF2B5EF4-FFF2-40B4-BE49-F238E27FC236}">
                <a16:creationId xmlns:a16="http://schemas.microsoft.com/office/drawing/2014/main" id="{D48A4618-05E4-4BCF-9872-698E67B99856}"/>
              </a:ext>
            </a:extLst>
          </p:cNvPr>
          <p:cNvSpPr>
            <a:spLocks noGrp="1"/>
          </p:cNvSpPr>
          <p:nvPr/>
        </p:nvSpPr>
        <p:spPr>
          <a:xfrm>
            <a:off x="6705600" y="2495550"/>
            <a:ext cx="381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B744E-33AE-48BC-AB00-4A7CD3C9CD8E}"/>
              </a:ext>
            </a:extLst>
          </p:cNvPr>
          <p:cNvSpPr>
            <a:spLocks noGrp="1"/>
          </p:cNvSpPr>
          <p:nvPr/>
        </p:nvSpPr>
        <p:spPr>
          <a:xfrm>
            <a:off x="6838950" y="260985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上下文不是越长越好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31242C-6398-4403-AEEC-59739CD8C3A0}"/>
              </a:ext>
            </a:extLst>
          </p:cNvPr>
          <p:cNvSpPr>
            <a:spLocks noGrp="1"/>
          </p:cNvSpPr>
          <p:nvPr/>
        </p:nvSpPr>
        <p:spPr>
          <a:xfrm>
            <a:off x="6838950" y="2895600"/>
            <a:ext cx="3543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要准确、及时、与任务相关</a:t>
            </a:r>
          </a:p>
        </p:txBody>
      </p:sp>
      <p:sp>
        <p:nvSpPr>
          <p:cNvPr id="30" name="高风险动作必须有人审">
            <a:extLst>
              <a:ext uri="{FF2B5EF4-FFF2-40B4-BE49-F238E27FC236}">
                <a16:creationId xmlns:a16="http://schemas.microsoft.com/office/drawing/2014/main" id="{B338A0AF-6D6C-48BD-B23D-808554988896}"/>
              </a:ext>
            </a:extLst>
          </p:cNvPr>
          <p:cNvSpPr>
            <a:spLocks noGrp="1"/>
          </p:cNvSpPr>
          <p:nvPr/>
        </p:nvSpPr>
        <p:spPr>
          <a:xfrm>
            <a:off x="6705600" y="3505200"/>
            <a:ext cx="3810000" cy="723900"/>
          </a:xfrm>
          <a:prstGeom prst="roundRect">
            <a:avLst>
              <a:gd name="adj" fmla="val 7895"/>
            </a:avLst>
          </a:prstGeom>
          <a:solidFill>
            <a:srgbClr val="FFF4E6"/>
          </a:solidFill>
          <a:ln w="9525">
            <a:solidFill>
              <a:srgbClr val="B75E0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8A72A76-6E8E-432C-8498-E616E63EE54B}"/>
              </a:ext>
            </a:extLst>
          </p:cNvPr>
          <p:cNvSpPr>
            <a:spLocks noGrp="1"/>
          </p:cNvSpPr>
          <p:nvPr/>
        </p:nvSpPr>
        <p:spPr>
          <a:xfrm>
            <a:off x="6838950" y="361950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高风险动作必须有人审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5C08F5-7AC6-4D3F-AC59-E134D9C8D30B}"/>
              </a:ext>
            </a:extLst>
          </p:cNvPr>
          <p:cNvSpPr>
            <a:spLocks noGrp="1"/>
          </p:cNvSpPr>
          <p:nvPr/>
        </p:nvSpPr>
        <p:spPr>
          <a:xfrm>
            <a:off x="6838950" y="3905250"/>
            <a:ext cx="3543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生产、资金、客户数据要保留确认</a:t>
            </a:r>
          </a:p>
        </p:txBody>
      </p:sp>
      <p:sp>
        <p:nvSpPr>
          <p:cNvPr id="33" name="结果要能评估">
            <a:extLst>
              <a:ext uri="{FF2B5EF4-FFF2-40B4-BE49-F238E27FC236}">
                <a16:creationId xmlns:a16="http://schemas.microsoft.com/office/drawing/2014/main" id="{8C4DF9DB-A8DA-4B1A-9550-6DAA12507D8A}"/>
              </a:ext>
            </a:extLst>
          </p:cNvPr>
          <p:cNvSpPr>
            <a:spLocks noGrp="1"/>
          </p:cNvSpPr>
          <p:nvPr/>
        </p:nvSpPr>
        <p:spPr>
          <a:xfrm>
            <a:off x="6705600" y="4514850"/>
            <a:ext cx="381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58E8EE5-32A5-436B-B655-B3E5AD1F304C}"/>
              </a:ext>
            </a:extLst>
          </p:cNvPr>
          <p:cNvSpPr>
            <a:spLocks noGrp="1"/>
          </p:cNvSpPr>
          <p:nvPr/>
        </p:nvSpPr>
        <p:spPr>
          <a:xfrm>
            <a:off x="6838950" y="462915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结果要能评估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B1C6392-F6A3-41FC-A0D4-CAA7BDE52E59}"/>
              </a:ext>
            </a:extLst>
          </p:cNvPr>
          <p:cNvSpPr>
            <a:spLocks noGrp="1"/>
          </p:cNvSpPr>
          <p:nvPr/>
        </p:nvSpPr>
        <p:spPr>
          <a:xfrm>
            <a:off x="6838950" y="4914900"/>
            <a:ext cx="3543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用准确率、耗时、满意度持续改进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56581C-18EB-45E3-9B9C-A035E196ABE2}"/>
              </a:ext>
            </a:extLst>
          </p:cNvPr>
          <p:cNvSpPr>
            <a:spLocks noGrp="1"/>
          </p:cNvSpPr>
          <p:nvPr/>
        </p:nvSpPr>
        <p:spPr>
          <a:xfrm>
            <a:off x="952500" y="5753100"/>
            <a:ext cx="914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从个人试用到团队可用，关键变化是：从“让模型回答”转向“让系统可控地执行”。</a:t>
            </a:r>
          </a:p>
        </p:txBody>
      </p:sp>
      <p:sp>
        <p:nvSpPr>
          <p:cNvPr id="37" name="footer">
            <a:extLst>
              <a:ext uri="{FF2B5EF4-FFF2-40B4-BE49-F238E27FC236}">
                <a16:creationId xmlns:a16="http://schemas.microsoft.com/office/drawing/2014/main" id="{96E913CE-0237-4E3C-BC47-478467C9C23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1321975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red-line">
            <a:extLst>
              <a:ext uri="{FF2B5EF4-FFF2-40B4-BE49-F238E27FC236}">
                <a16:creationId xmlns:a16="http://schemas.microsoft.com/office/drawing/2014/main" id="{384909F2-6D52-4827-B638-BAD6B3B618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EACD3335-77C0-44F2-BBA7-CC2C5BF6B24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5DD0254-BAEE-4D53-9097-790319ACAB5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AI 工具正在从问答走向执行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10580573-147F-494F-AC50-784C4BCDB659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07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B4D0A7E1-1A4C-438D-8B69-C7328FF71E3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B01513C-B63A-45C1-A2EB-8DE0AD4F1CAB}"/>
              </a:ext>
            </a:extLst>
          </p:cNvPr>
          <p:cNvSpPr>
            <a:spLocks noGrp="1"/>
          </p:cNvSpPr>
          <p:nvPr/>
        </p:nvSpPr>
        <p:spPr>
          <a:xfrm>
            <a:off x="4876800" y="2571750"/>
            <a:ext cx="1962150" cy="91440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A8859-BB28-430C-B51A-A6721DE6B138}"/>
              </a:ext>
            </a:extLst>
          </p:cNvPr>
          <p:cNvSpPr>
            <a:spLocks noGrp="1"/>
          </p:cNvSpPr>
          <p:nvPr/>
        </p:nvSpPr>
        <p:spPr>
          <a:xfrm>
            <a:off x="5257800" y="28003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650" b="1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650" b="1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能力地图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6A2324-4536-4769-B915-942EA1994819}"/>
              </a:ext>
            </a:extLst>
          </p:cNvPr>
          <p:cNvSpPr>
            <a:spLocks noGrp="1"/>
          </p:cNvSpPr>
          <p:nvPr/>
        </p:nvSpPr>
        <p:spPr>
          <a:xfrm>
            <a:off x="5029200" y="3124200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88" b="0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先看任务类型，再看工具名称</a:t>
            </a:r>
          </a:p>
        </p:txBody>
      </p:sp>
      <p:sp>
        <p:nvSpPr>
          <p:cNvPr id="9" name="通用问答与写作">
            <a:extLst>
              <a:ext uri="{FF2B5EF4-FFF2-40B4-BE49-F238E27FC236}">
                <a16:creationId xmlns:a16="http://schemas.microsoft.com/office/drawing/2014/main" id="{7A8308AF-3349-42C4-B50C-70A212D1F9C9}"/>
              </a:ext>
            </a:extLst>
          </p:cNvPr>
          <p:cNvSpPr>
            <a:spLocks noGrp="1"/>
          </p:cNvSpPr>
          <p:nvPr/>
        </p:nvSpPr>
        <p:spPr>
          <a:xfrm>
            <a:off x="952500" y="1543050"/>
            <a:ext cx="2533650" cy="876300"/>
          </a:xfrm>
          <a:prstGeom prst="roundRect">
            <a:avLst>
              <a:gd name="adj" fmla="val 6522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A1F0E2-5F72-40B7-8042-28EB2E28EA09}"/>
              </a:ext>
            </a:extLst>
          </p:cNvPr>
          <p:cNvSpPr>
            <a:spLocks noGrp="1"/>
          </p:cNvSpPr>
          <p:nvPr/>
        </p:nvSpPr>
        <p:spPr>
          <a:xfrm>
            <a:off x="1085850" y="165735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通用问答与写作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7E6251-3F51-4389-B6B8-84EFB566CA43}"/>
              </a:ext>
            </a:extLst>
          </p:cNvPr>
          <p:cNvSpPr>
            <a:spLocks noGrp="1"/>
          </p:cNvSpPr>
          <p:nvPr/>
        </p:nvSpPr>
        <p:spPr>
          <a:xfrm>
            <a:off x="1085850" y="19431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ChatGPT / Claude / Gemini</a:t>
            </a:r>
          </a:p>
        </p:txBody>
      </p:sp>
      <p:sp>
        <p:nvSpPr>
          <p:cNvPr id="12" name="办公与协作">
            <a:extLst>
              <a:ext uri="{FF2B5EF4-FFF2-40B4-BE49-F238E27FC236}">
                <a16:creationId xmlns:a16="http://schemas.microsoft.com/office/drawing/2014/main" id="{D3E36656-3F29-4939-B928-B3E7C0C89CEE}"/>
              </a:ext>
            </a:extLst>
          </p:cNvPr>
          <p:cNvSpPr>
            <a:spLocks noGrp="1"/>
          </p:cNvSpPr>
          <p:nvPr/>
        </p:nvSpPr>
        <p:spPr>
          <a:xfrm>
            <a:off x="8362950" y="1543050"/>
            <a:ext cx="2533650" cy="876300"/>
          </a:xfrm>
          <a:prstGeom prst="roundRect">
            <a:avLst>
              <a:gd name="adj" fmla="val 6522"/>
            </a:avLst>
          </a:prstGeom>
          <a:solidFill>
            <a:srgbClr val="F5F6F7"/>
          </a:solidFill>
          <a:ln w="9525">
            <a:solidFill>
              <a:srgbClr val="2F68C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C2849C-8816-4AF9-8795-A9EEC93DCE5D}"/>
              </a:ext>
            </a:extLst>
          </p:cNvPr>
          <p:cNvSpPr>
            <a:spLocks noGrp="1"/>
          </p:cNvSpPr>
          <p:nvPr/>
        </p:nvSpPr>
        <p:spPr>
          <a:xfrm>
            <a:off x="8496300" y="165735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F68C5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F68C5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办公与协作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029237-7CD5-4D1A-B4A3-DBABAD16EE99}"/>
              </a:ext>
            </a:extLst>
          </p:cNvPr>
          <p:cNvSpPr>
            <a:spLocks noGrp="1"/>
          </p:cNvSpPr>
          <p:nvPr/>
        </p:nvSpPr>
        <p:spPr>
          <a:xfrm>
            <a:off x="8496300" y="19431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Microsoft 365 Copilot</a:t>
            </a:r>
          </a:p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Gemini for Workspace</a:t>
            </a:r>
          </a:p>
        </p:txBody>
      </p:sp>
      <p:sp>
        <p:nvSpPr>
          <p:cNvPr id="15" name="编码与工程">
            <a:extLst>
              <a:ext uri="{FF2B5EF4-FFF2-40B4-BE49-F238E27FC236}">
                <a16:creationId xmlns:a16="http://schemas.microsoft.com/office/drawing/2014/main" id="{819E40C9-5CDA-4474-B8E6-CA06A4FD8505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2533650" cy="876300"/>
          </a:xfrm>
          <a:prstGeom prst="roundRect">
            <a:avLst>
              <a:gd name="adj" fmla="val 6522"/>
            </a:avLst>
          </a:prstGeom>
          <a:solidFill>
            <a:srgbClr val="F5F6F7"/>
          </a:solidFill>
          <a:ln w="9525">
            <a:solidFill>
              <a:srgbClr val="0F8A5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1A7773-9777-440B-AC59-5E263798512B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编码与工程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3F6A60-59BD-4624-BA29-62119D82F2B6}"/>
              </a:ext>
            </a:extLst>
          </p:cNvPr>
          <p:cNvSpPr>
            <a:spLocks noGrp="1"/>
          </p:cNvSpPr>
          <p:nvPr/>
        </p:nvSpPr>
        <p:spPr>
          <a:xfrm>
            <a:off x="1085850" y="47053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GitHub Copilot / Cursor</a:t>
            </a:r>
          </a:p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Claude Code / Codex</a:t>
            </a:r>
          </a:p>
        </p:txBody>
      </p:sp>
      <p:sp>
        <p:nvSpPr>
          <p:cNvPr id="18" name="自动化与应用搭建">
            <a:extLst>
              <a:ext uri="{FF2B5EF4-FFF2-40B4-BE49-F238E27FC236}">
                <a16:creationId xmlns:a16="http://schemas.microsoft.com/office/drawing/2014/main" id="{00E773D2-708D-4F22-BF2E-0E84E275DE13}"/>
              </a:ext>
            </a:extLst>
          </p:cNvPr>
          <p:cNvSpPr>
            <a:spLocks noGrp="1"/>
          </p:cNvSpPr>
          <p:nvPr/>
        </p:nvSpPr>
        <p:spPr>
          <a:xfrm>
            <a:off x="8362950" y="4305300"/>
            <a:ext cx="2533650" cy="876300"/>
          </a:xfrm>
          <a:prstGeom prst="roundRect">
            <a:avLst>
              <a:gd name="adj" fmla="val 6522"/>
            </a:avLst>
          </a:prstGeom>
          <a:solidFill>
            <a:srgbClr val="F5F6F7"/>
          </a:solidFill>
          <a:ln w="9525">
            <a:solidFill>
              <a:srgbClr val="B75E0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D40DD8-9838-41A4-824D-306920C38090}"/>
              </a:ext>
            </a:extLst>
          </p:cNvPr>
          <p:cNvSpPr>
            <a:spLocks noGrp="1"/>
          </p:cNvSpPr>
          <p:nvPr/>
        </p:nvSpPr>
        <p:spPr>
          <a:xfrm>
            <a:off x="8496300" y="441960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自动化与应用搭建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4DCCBE-AAD2-41BF-BAC1-1D5AF176D4B5}"/>
              </a:ext>
            </a:extLst>
          </p:cNvPr>
          <p:cNvSpPr>
            <a:spLocks noGrp="1"/>
          </p:cNvSpPr>
          <p:nvPr/>
        </p:nvSpPr>
        <p:spPr>
          <a:xfrm>
            <a:off x="8496300" y="47053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Dify / n8n / Coze</a:t>
            </a:r>
          </a:p>
        </p:txBody>
      </p:sp>
      <p:sp>
        <p:nvSpPr>
          <p:cNvPr id="21" name="知识管理">
            <a:extLst>
              <a:ext uri="{FF2B5EF4-FFF2-40B4-BE49-F238E27FC236}">
                <a16:creationId xmlns:a16="http://schemas.microsoft.com/office/drawing/2014/main" id="{DEB3EE25-598D-4285-8ACC-25A6E38CEF84}"/>
              </a:ext>
            </a:extLst>
          </p:cNvPr>
          <p:cNvSpPr>
            <a:spLocks noGrp="1"/>
          </p:cNvSpPr>
          <p:nvPr/>
        </p:nvSpPr>
        <p:spPr>
          <a:xfrm>
            <a:off x="4476750" y="4552950"/>
            <a:ext cx="2533650" cy="876300"/>
          </a:xfrm>
          <a:prstGeom prst="roundRect">
            <a:avLst>
              <a:gd name="adj" fmla="val 6522"/>
            </a:avLst>
          </a:prstGeom>
          <a:solidFill>
            <a:srgbClr val="F5F6F7"/>
          </a:solidFill>
          <a:ln w="9525">
            <a:solidFill>
              <a:srgbClr val="2B2F3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A2548E-85D2-455E-A7A0-B8F884E99B7D}"/>
              </a:ext>
            </a:extLst>
          </p:cNvPr>
          <p:cNvSpPr>
            <a:spLocks noGrp="1"/>
          </p:cNvSpPr>
          <p:nvPr/>
        </p:nvSpPr>
        <p:spPr>
          <a:xfrm>
            <a:off x="4610100" y="466725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0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知识管理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E4F671-EBE0-4B07-8ECB-E322922A5C75}"/>
              </a:ext>
            </a:extLst>
          </p:cNvPr>
          <p:cNvSpPr>
            <a:spLocks noGrp="1"/>
          </p:cNvSpPr>
          <p:nvPr/>
        </p:nvSpPr>
        <p:spPr>
          <a:xfrm>
            <a:off x="4610100" y="49530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Notion AI / Obsidian + AI</a:t>
            </a:r>
          </a:p>
          <a:p>
            <a:pPr algn="l">
              <a:lnSpc>
                <a:spcPct val="110000"/>
              </a:lnSpc>
              <a:buNone/>
              <a:def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863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飞书 / 语雀知识库</a:t>
            </a:r>
          </a:p>
        </p:txBody>
      </p:sp>
      <p:cxnSp>
        <p:nvCxnSpPr>
          <p:cNvPr id="54" name="直线箭头连接符 53"/>
          <p:cNvCxnSpPr>
            <a:stCxn id="6" idx="1"/>
            <a:endCxn id="9" idx="3"/>
          </p:cNvCxnSpPr>
          <p:nvPr/>
        </p:nvCxnSpPr>
        <p:spPr>
          <a:xfrm flipH="1" flipV="1">
            <a:off x="3486150" y="1981200"/>
            <a:ext cx="1390650" cy="1047750"/>
          </a:xfrm>
          <a:prstGeom prst="straightConnector1">
            <a:avLst/>
          </a:prstGeom>
          <a:ln w="15240">
            <a:solidFill>
              <a:srgbClr val="8A8F98"/>
            </a:solidFill>
            <a:prstDash val="dash"/>
            <a:tailEnd type="triangle" w="sm" len="sm"/>
          </a:ln>
        </p:spPr>
      </p:cxnSp>
      <p:cxnSp>
        <p:nvCxnSpPr>
          <p:cNvPr id="55" name="直线箭头连接符 54"/>
          <p:cNvCxnSpPr>
            <a:stCxn id="6" idx="3"/>
            <a:endCxn id="12" idx="1"/>
          </p:cNvCxnSpPr>
          <p:nvPr/>
        </p:nvCxnSpPr>
        <p:spPr>
          <a:xfrm flipV="1">
            <a:off x="6838950" y="1981200"/>
            <a:ext cx="1524000" cy="1047750"/>
          </a:xfrm>
          <a:prstGeom prst="straightConnector1">
            <a:avLst/>
          </a:prstGeom>
          <a:ln w="15240">
            <a:solidFill>
              <a:srgbClr val="8A8F98"/>
            </a:solidFill>
            <a:prstDash val="dash"/>
            <a:tailEnd type="triangle" w="sm" len="sm"/>
          </a:ln>
        </p:spPr>
      </p:cxnSp>
      <p:cxnSp>
        <p:nvCxnSpPr>
          <p:cNvPr id="56" name="直线箭头连接符 55"/>
          <p:cNvCxnSpPr>
            <a:stCxn id="6" idx="1"/>
            <a:endCxn id="15" idx="3"/>
          </p:cNvCxnSpPr>
          <p:nvPr/>
        </p:nvCxnSpPr>
        <p:spPr>
          <a:xfrm flipH="1">
            <a:off x="3486150" y="3028950"/>
            <a:ext cx="1390650" cy="1714500"/>
          </a:xfrm>
          <a:prstGeom prst="straightConnector1">
            <a:avLst/>
          </a:prstGeom>
          <a:ln w="15240">
            <a:solidFill>
              <a:srgbClr val="8A8F98"/>
            </a:solidFill>
            <a:prstDash val="dash"/>
            <a:tailEnd type="triangle" w="sm" len="sm"/>
          </a:ln>
        </p:spPr>
      </p:cxnSp>
      <p:cxnSp>
        <p:nvCxnSpPr>
          <p:cNvPr id="57" name="直线箭头连接符 56"/>
          <p:cNvCxnSpPr>
            <a:stCxn id="6" idx="3"/>
            <a:endCxn id="18" idx="1"/>
          </p:cNvCxnSpPr>
          <p:nvPr/>
        </p:nvCxnSpPr>
        <p:spPr>
          <a:xfrm>
            <a:off x="6838950" y="3028950"/>
            <a:ext cx="1524000" cy="1714500"/>
          </a:xfrm>
          <a:prstGeom prst="straightConnector1">
            <a:avLst/>
          </a:prstGeom>
          <a:ln w="15240">
            <a:solidFill>
              <a:srgbClr val="8A8F98"/>
            </a:solidFill>
            <a:prstDash val="dash"/>
            <a:tailEnd type="triangle" w="sm" len="sm"/>
          </a:ln>
        </p:spPr>
      </p:cxnSp>
      <p:cxnSp>
        <p:nvCxnSpPr>
          <p:cNvPr id="58" name="直线箭头连接符 57"/>
          <p:cNvCxnSpPr>
            <a:stCxn id="6" idx="2"/>
            <a:endCxn id="21" idx="0"/>
          </p:cNvCxnSpPr>
          <p:nvPr/>
        </p:nvCxnSpPr>
        <p:spPr>
          <a:xfrm flipH="1">
            <a:off x="5743575" y="3486150"/>
            <a:ext cx="114300" cy="1066800"/>
          </a:xfrm>
          <a:prstGeom prst="straightConnector1">
            <a:avLst/>
          </a:prstGeom>
          <a:ln w="15240">
            <a:solidFill>
              <a:srgbClr val="8A8F98"/>
            </a:solidFill>
            <a:prstDash val="dash"/>
            <a:tailEnd type="triangle" w="sm" len="sm"/>
          </a:ln>
        </p:spPr>
      </p:cxnSp>
      <p:graphicFrame>
        <p:nvGraphicFramePr>
          <p:cNvPr id="59" name="表格 58"/>
          <p:cNvGraphicFramePr/>
          <p:nvPr/>
        </p:nvGraphicFramePr>
        <p:xfrm>
          <a:off x="1428750" y="5715000"/>
          <a:ext cx="9334500" cy="5334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选型问题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是问答、创作，还是执行任务？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是否需要接入公司资料和系统？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结果是否需要可审计、可复用、可协作？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footer">
            <a:extLst>
              <a:ext uri="{FF2B5EF4-FFF2-40B4-BE49-F238E27FC236}">
                <a16:creationId xmlns:a16="http://schemas.microsoft.com/office/drawing/2014/main" id="{A1C1ABB9-10C9-48A1-B361-3145CBC5651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64575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op-red-line">
            <a:extLst>
              <a:ext uri="{FF2B5EF4-FFF2-40B4-BE49-F238E27FC236}">
                <a16:creationId xmlns:a16="http://schemas.microsoft.com/office/drawing/2014/main" id="{78053E23-84E1-42C4-937C-EB88C61C08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3C8AADD8-7BD8-4BA7-AA11-F9A0390B1CB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0564377-7B45-4DB0-92F2-A0A7A4AE068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我的 AI 使用路径与 Vibe Coding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2630280D-7096-4F0E-8710-F02782548501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08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35453DCF-713E-40F4-A9F8-79B0DF897AC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22A9BE2-436B-4B77-8049-50886A7EF70A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514350" cy="514350"/>
          </a:xfrm>
          <a:prstGeom prst="ellipse">
            <a:avLst/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99C82F-BFD9-43B0-9337-7CFA2EA03D76}"/>
              </a:ext>
            </a:extLst>
          </p:cNvPr>
          <p:cNvSpPr>
            <a:spLocks noGrp="1"/>
          </p:cNvSpPr>
          <p:nvPr/>
        </p:nvSpPr>
        <p:spPr>
          <a:xfrm>
            <a:off x="1066800" y="217170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2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1</a:t>
            </a:r>
          </a:p>
        </p:txBody>
      </p:sp>
      <p:sp>
        <p:nvSpPr>
          <p:cNvPr id="8" name="问概念">
            <a:extLst>
              <a:ext uri="{FF2B5EF4-FFF2-40B4-BE49-F238E27FC236}">
                <a16:creationId xmlns:a16="http://schemas.microsoft.com/office/drawing/2014/main" id="{1221411D-7DC8-470D-8044-8C5003E45958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C76E4F-430A-48D8-8F15-6A664CA16C7C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问概念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4EF7B9-8260-4991-B832-A49D6649108D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查资料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8E13563-6D93-474C-93E9-8146E5E697DD}"/>
              </a:ext>
            </a:extLst>
          </p:cNvPr>
          <p:cNvSpPr>
            <a:spLocks noGrp="1"/>
          </p:cNvSpPr>
          <p:nvPr/>
        </p:nvSpPr>
        <p:spPr>
          <a:xfrm>
            <a:off x="2952750" y="2038350"/>
            <a:ext cx="514350" cy="514350"/>
          </a:xfrm>
          <a:prstGeom prst="ellipse">
            <a:avLst/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EEFAD0-2B9D-4ECD-BC29-B83C8230E2C6}"/>
              </a:ext>
            </a:extLst>
          </p:cNvPr>
          <p:cNvSpPr>
            <a:spLocks noGrp="1"/>
          </p:cNvSpPr>
          <p:nvPr/>
        </p:nvSpPr>
        <p:spPr>
          <a:xfrm>
            <a:off x="3105150" y="217170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2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2</a:t>
            </a:r>
          </a:p>
        </p:txBody>
      </p:sp>
      <p:sp>
        <p:nvSpPr>
          <p:cNvPr id="13" name="写文档">
            <a:extLst>
              <a:ext uri="{FF2B5EF4-FFF2-40B4-BE49-F238E27FC236}">
                <a16:creationId xmlns:a16="http://schemas.microsoft.com/office/drawing/2014/main" id="{D5DC737A-1C23-4992-A115-8689539482F6}"/>
              </a:ext>
            </a:extLst>
          </p:cNvPr>
          <p:cNvSpPr>
            <a:spLocks noGrp="1"/>
          </p:cNvSpPr>
          <p:nvPr/>
        </p:nvSpPr>
        <p:spPr>
          <a:xfrm>
            <a:off x="2686050" y="281940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2E6BE7-424D-4993-AE29-C14DA5EF6F31}"/>
              </a:ext>
            </a:extLst>
          </p:cNvPr>
          <p:cNvSpPr>
            <a:spLocks noGrp="1"/>
          </p:cNvSpPr>
          <p:nvPr/>
        </p:nvSpPr>
        <p:spPr>
          <a:xfrm>
            <a:off x="2819400" y="29337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写文档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38D548-2D67-40EC-B090-48F4383436CD}"/>
              </a:ext>
            </a:extLst>
          </p:cNvPr>
          <p:cNvSpPr>
            <a:spLocks noGrp="1"/>
          </p:cNvSpPr>
          <p:nvPr/>
        </p:nvSpPr>
        <p:spPr>
          <a:xfrm>
            <a:off x="2819400" y="32194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改表达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D18342C-3CFC-422B-A7FC-423C983C956A}"/>
              </a:ext>
            </a:extLst>
          </p:cNvPr>
          <p:cNvSpPr>
            <a:spLocks noGrp="1"/>
          </p:cNvSpPr>
          <p:nvPr/>
        </p:nvSpPr>
        <p:spPr>
          <a:xfrm>
            <a:off x="4991100" y="2038350"/>
            <a:ext cx="514350" cy="514350"/>
          </a:xfrm>
          <a:prstGeom prst="ellipse">
            <a:avLst/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217E4E-A9CB-43A6-8268-C3463E4368F7}"/>
              </a:ext>
            </a:extLst>
          </p:cNvPr>
          <p:cNvSpPr>
            <a:spLocks noGrp="1"/>
          </p:cNvSpPr>
          <p:nvPr/>
        </p:nvSpPr>
        <p:spPr>
          <a:xfrm>
            <a:off x="5143500" y="217170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2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0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3</a:t>
            </a:r>
          </a:p>
        </p:txBody>
      </p:sp>
      <p:sp>
        <p:nvSpPr>
          <p:cNvPr id="18" name="辅助代码">
            <a:extLst>
              <a:ext uri="{FF2B5EF4-FFF2-40B4-BE49-F238E27FC236}">
                <a16:creationId xmlns:a16="http://schemas.microsoft.com/office/drawing/2014/main" id="{68726C12-0843-407D-AD88-6A87D4493E56}"/>
              </a:ext>
            </a:extLst>
          </p:cNvPr>
          <p:cNvSpPr>
            <a:spLocks noGrp="1"/>
          </p:cNvSpPr>
          <p:nvPr/>
        </p:nvSpPr>
        <p:spPr>
          <a:xfrm>
            <a:off x="4724400" y="281940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B73239-7417-4804-9A45-7D6570FC9874}"/>
              </a:ext>
            </a:extLst>
          </p:cNvPr>
          <p:cNvSpPr>
            <a:spLocks noGrp="1"/>
          </p:cNvSpPr>
          <p:nvPr/>
        </p:nvSpPr>
        <p:spPr>
          <a:xfrm>
            <a:off x="4857750" y="29337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辅助代码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1C7BFB-914E-4C27-922F-55963F1BB405}"/>
              </a:ext>
            </a:extLst>
          </p:cNvPr>
          <p:cNvSpPr>
            <a:spLocks noGrp="1"/>
          </p:cNvSpPr>
          <p:nvPr/>
        </p:nvSpPr>
        <p:spPr>
          <a:xfrm>
            <a:off x="4857750" y="32194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生成测试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319FF46-BC32-410E-960E-D3C7F961943D}"/>
              </a:ext>
            </a:extLst>
          </p:cNvPr>
          <p:cNvSpPr>
            <a:spLocks noGrp="1"/>
          </p:cNvSpPr>
          <p:nvPr/>
        </p:nvSpPr>
        <p:spPr>
          <a:xfrm>
            <a:off x="7029450" y="2038350"/>
            <a:ext cx="514350" cy="514350"/>
          </a:xfrm>
          <a:prstGeom prst="ellipse">
            <a:avLst/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FA8069-8D74-45D3-8F34-5AD953B00670}"/>
              </a:ext>
            </a:extLst>
          </p:cNvPr>
          <p:cNvSpPr>
            <a:spLocks noGrp="1"/>
          </p:cNvSpPr>
          <p:nvPr/>
        </p:nvSpPr>
        <p:spPr>
          <a:xfrm>
            <a:off x="7181850" y="217170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2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4</a:t>
            </a:r>
          </a:p>
        </p:txBody>
      </p:sp>
      <p:sp>
        <p:nvSpPr>
          <p:cNvPr id="23" name="快速做原型">
            <a:extLst>
              <a:ext uri="{FF2B5EF4-FFF2-40B4-BE49-F238E27FC236}">
                <a16:creationId xmlns:a16="http://schemas.microsoft.com/office/drawing/2014/main" id="{7419FA69-BD71-4996-A1D3-8B70A0B642A5}"/>
              </a:ext>
            </a:extLst>
          </p:cNvPr>
          <p:cNvSpPr>
            <a:spLocks noGrp="1"/>
          </p:cNvSpPr>
          <p:nvPr/>
        </p:nvSpPr>
        <p:spPr>
          <a:xfrm>
            <a:off x="6762750" y="281940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F457E8-FC02-4115-88F6-1E8A8DB600EC}"/>
              </a:ext>
            </a:extLst>
          </p:cNvPr>
          <p:cNvSpPr>
            <a:spLocks noGrp="1"/>
          </p:cNvSpPr>
          <p:nvPr/>
        </p:nvSpPr>
        <p:spPr>
          <a:xfrm>
            <a:off x="6896100" y="29337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快速做原型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D8F6683-5766-429A-A96B-B7CD94EF5C61}"/>
              </a:ext>
            </a:extLst>
          </p:cNvPr>
          <p:cNvSpPr>
            <a:spLocks noGrp="1"/>
          </p:cNvSpPr>
          <p:nvPr/>
        </p:nvSpPr>
        <p:spPr>
          <a:xfrm>
            <a:off x="9067800" y="2038350"/>
            <a:ext cx="514350" cy="514350"/>
          </a:xfrm>
          <a:prstGeom prst="ellipse">
            <a:avLst/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AE75C7-DA5D-4C57-8EB9-B85DF0538837}"/>
              </a:ext>
            </a:extLst>
          </p:cNvPr>
          <p:cNvSpPr>
            <a:spLocks noGrp="1"/>
          </p:cNvSpPr>
          <p:nvPr/>
        </p:nvSpPr>
        <p:spPr>
          <a:xfrm>
            <a:off x="9220200" y="217170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2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0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5</a:t>
            </a:r>
          </a:p>
        </p:txBody>
      </p:sp>
      <p:sp>
        <p:nvSpPr>
          <p:cNvPr id="27" name="多工具协作">
            <a:extLst>
              <a:ext uri="{FF2B5EF4-FFF2-40B4-BE49-F238E27FC236}">
                <a16:creationId xmlns:a16="http://schemas.microsoft.com/office/drawing/2014/main" id="{1003EEE3-075E-4F81-9446-FC4E91D24B3F}"/>
              </a:ext>
            </a:extLst>
          </p:cNvPr>
          <p:cNvSpPr>
            <a:spLocks noGrp="1"/>
          </p:cNvSpPr>
          <p:nvPr/>
        </p:nvSpPr>
        <p:spPr>
          <a:xfrm>
            <a:off x="8801100" y="2819400"/>
            <a:ext cx="10668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D7BB75-3FFE-4B0F-89AC-C4DBDBC114BE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多工具协作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277E11-6252-4D3D-B494-A49DDD7BF3D0}"/>
              </a:ext>
            </a:extLst>
          </p:cNvPr>
          <p:cNvSpPr>
            <a:spLocks noGrp="1"/>
          </p:cNvSpPr>
          <p:nvPr/>
        </p:nvSpPr>
        <p:spPr>
          <a:xfrm>
            <a:off x="8934450" y="32194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完成作品</a:t>
            </a:r>
          </a:p>
        </p:txBody>
      </p:sp>
      <p:sp>
        <p:nvSpPr>
          <p:cNvPr id="30" name="直线连接符 29">
            <a:extLst>
              <a:ext uri="{FF2B5EF4-FFF2-40B4-BE49-F238E27FC236}">
                <a16:creationId xmlns:a16="http://schemas.microsoft.com/office/drawing/2014/main" id="{4D743657-DE50-44F9-A046-D8E2A198CF14}"/>
              </a:ext>
            </a:extLst>
          </p:cNvPr>
          <p:cNvSpPr>
            <a:spLocks noGrp="1"/>
          </p:cNvSpPr>
          <p:nvPr/>
        </p:nvSpPr>
        <p:spPr>
          <a:xfrm>
            <a:off x="1428750" y="2286000"/>
            <a:ext cx="1524000" cy="0"/>
          </a:xfrm>
          <a:prstGeom prst="line">
            <a:avLst/>
          </a:prstGeom>
          <a:noFill/>
          <a:ln w="15240">
            <a:solidFill>
              <a:srgbClr val="8A8F98"/>
            </a:solidFill>
            <a:prstDash val="solid"/>
          </a:ln>
        </p:spPr>
      </p:sp>
      <p:sp>
        <p:nvSpPr>
          <p:cNvPr id="31" name="直线连接符 30">
            <a:extLst>
              <a:ext uri="{FF2B5EF4-FFF2-40B4-BE49-F238E27FC236}">
                <a16:creationId xmlns:a16="http://schemas.microsoft.com/office/drawing/2014/main" id="{29ED51EC-B68F-4A79-B8DD-A90B828D10A8}"/>
              </a:ext>
            </a:extLst>
          </p:cNvPr>
          <p:cNvSpPr>
            <a:spLocks noGrp="1"/>
          </p:cNvSpPr>
          <p:nvPr/>
        </p:nvSpPr>
        <p:spPr>
          <a:xfrm>
            <a:off x="3467100" y="2286000"/>
            <a:ext cx="1524000" cy="0"/>
          </a:xfrm>
          <a:prstGeom prst="line">
            <a:avLst/>
          </a:prstGeom>
          <a:noFill/>
          <a:ln w="15240">
            <a:solidFill>
              <a:srgbClr val="8A8F98"/>
            </a:solidFill>
            <a:prstDash val="solid"/>
          </a:ln>
        </p:spPr>
      </p:sp>
      <p:sp>
        <p:nvSpPr>
          <p:cNvPr id="32" name="直线连接符 31">
            <a:extLst>
              <a:ext uri="{FF2B5EF4-FFF2-40B4-BE49-F238E27FC236}">
                <a16:creationId xmlns:a16="http://schemas.microsoft.com/office/drawing/2014/main" id="{C285C0F6-DD3D-482E-827A-3F6111EA0172}"/>
              </a:ext>
            </a:extLst>
          </p:cNvPr>
          <p:cNvSpPr>
            <a:spLocks noGrp="1"/>
          </p:cNvSpPr>
          <p:nvPr/>
        </p:nvSpPr>
        <p:spPr>
          <a:xfrm>
            <a:off x="5505450" y="2286000"/>
            <a:ext cx="1524000" cy="0"/>
          </a:xfrm>
          <a:prstGeom prst="line">
            <a:avLst/>
          </a:prstGeom>
          <a:noFill/>
          <a:ln w="15240">
            <a:solidFill>
              <a:srgbClr val="C7000B"/>
            </a:solidFill>
            <a:prstDash val="solid"/>
          </a:ln>
        </p:spPr>
      </p:sp>
      <p:sp>
        <p:nvSpPr>
          <p:cNvPr id="33" name="直线连接符 32">
            <a:extLst>
              <a:ext uri="{FF2B5EF4-FFF2-40B4-BE49-F238E27FC236}">
                <a16:creationId xmlns:a16="http://schemas.microsoft.com/office/drawing/2014/main" id="{12532342-D3C2-473A-8C80-8851C17A38BB}"/>
              </a:ext>
            </a:extLst>
          </p:cNvPr>
          <p:cNvSpPr>
            <a:spLocks noGrp="1"/>
          </p:cNvSpPr>
          <p:nvPr/>
        </p:nvSpPr>
        <p:spPr>
          <a:xfrm>
            <a:off x="7543800" y="2286000"/>
            <a:ext cx="1524000" cy="0"/>
          </a:xfrm>
          <a:prstGeom prst="line">
            <a:avLst/>
          </a:prstGeom>
          <a:noFill/>
          <a:ln w="15240">
            <a:solidFill>
              <a:srgbClr val="C7000B"/>
            </a:solidFill>
            <a:prstDash val="solid"/>
          </a:ln>
        </p:spPr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E55E000C-E5F3-40E7-ADBC-C978D58587D1}"/>
              </a:ext>
            </a:extLst>
          </p:cNvPr>
          <p:cNvSpPr>
            <a:spLocks noGrp="1"/>
          </p:cNvSpPr>
          <p:nvPr/>
        </p:nvSpPr>
        <p:spPr>
          <a:xfrm>
            <a:off x="6858000" y="4057650"/>
            <a:ext cx="1219200" cy="876300"/>
          </a:xfrm>
          <a:prstGeom prst="roundRect">
            <a:avLst>
              <a:gd name="adj" fmla="val 434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3121EED-FE30-476F-A233-A31FEC173CC8}"/>
              </a:ext>
            </a:extLst>
          </p:cNvPr>
          <p:cNvSpPr>
            <a:spLocks noGrp="1"/>
          </p:cNvSpPr>
          <p:nvPr/>
        </p:nvSpPr>
        <p:spPr>
          <a:xfrm>
            <a:off x="6991350" y="44005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作品截图占位 1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4495BCC2-8B64-440A-AB60-6649064FA428}"/>
              </a:ext>
            </a:extLst>
          </p:cNvPr>
          <p:cNvSpPr>
            <a:spLocks noGrp="1"/>
          </p:cNvSpPr>
          <p:nvPr/>
        </p:nvSpPr>
        <p:spPr>
          <a:xfrm>
            <a:off x="8305800" y="4057650"/>
            <a:ext cx="1219200" cy="876300"/>
          </a:xfrm>
          <a:prstGeom prst="roundRect">
            <a:avLst>
              <a:gd name="adj" fmla="val 434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D332726-5D28-4C07-837F-416ABD185689}"/>
              </a:ext>
            </a:extLst>
          </p:cNvPr>
          <p:cNvSpPr>
            <a:spLocks noGrp="1"/>
          </p:cNvSpPr>
          <p:nvPr/>
        </p:nvSpPr>
        <p:spPr>
          <a:xfrm>
            <a:off x="8439150" y="44005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作品截图占位 2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471AF6FC-72BE-4795-A810-79123D695118}"/>
              </a:ext>
            </a:extLst>
          </p:cNvPr>
          <p:cNvSpPr>
            <a:spLocks noGrp="1"/>
          </p:cNvSpPr>
          <p:nvPr/>
        </p:nvSpPr>
        <p:spPr>
          <a:xfrm>
            <a:off x="9753600" y="4057650"/>
            <a:ext cx="1219200" cy="876300"/>
          </a:xfrm>
          <a:prstGeom prst="roundRect">
            <a:avLst>
              <a:gd name="adj" fmla="val 434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519BAD3-C405-4DC2-A145-777337CCDDD9}"/>
              </a:ext>
            </a:extLst>
          </p:cNvPr>
          <p:cNvSpPr>
            <a:spLocks noGrp="1"/>
          </p:cNvSpPr>
          <p:nvPr/>
        </p:nvSpPr>
        <p:spPr>
          <a:xfrm>
            <a:off x="9886950" y="44005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作品截图占位 3</a:t>
            </a:r>
          </a:p>
        </p:txBody>
      </p:sp>
      <p:sp>
        <p:nvSpPr>
          <p:cNvPr id="40" name="Vibe Coding 的关键变化">
            <a:extLst>
              <a:ext uri="{FF2B5EF4-FFF2-40B4-BE49-F238E27FC236}">
                <a16:creationId xmlns:a16="http://schemas.microsoft.com/office/drawing/2014/main" id="{33688387-F688-4E1B-BAA7-4ACFDD3C1194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4953000" cy="1333500"/>
          </a:xfrm>
          <a:prstGeom prst="roundRect">
            <a:avLst>
              <a:gd name="adj" fmla="val 4286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6C5051F-07FA-4656-918B-9ACEB27B32C4}"/>
              </a:ext>
            </a:extLst>
          </p:cNvPr>
          <p:cNvSpPr>
            <a:spLocks noGrp="1"/>
          </p:cNvSpPr>
          <p:nvPr/>
        </p:nvSpPr>
        <p:spPr>
          <a:xfrm>
            <a:off x="1047750" y="4324350"/>
            <a:ext cx="468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Vibe Coding 的关键变化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FA7C6EF-9B3D-45A6-92EC-4B48F3E8AA53}"/>
              </a:ext>
            </a:extLst>
          </p:cNvPr>
          <p:cNvSpPr>
            <a:spLocks noGrp="1"/>
          </p:cNvSpPr>
          <p:nvPr/>
        </p:nvSpPr>
        <p:spPr>
          <a:xfrm>
            <a:off x="1047750" y="4610100"/>
            <a:ext cx="4686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从“我写代码”变成“我描述目标”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从“先完整设计”变成“先跑出原型”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从“单次生成”变成“持续迭代”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人的价值转向判断、取舍和验收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1530790-33FD-45DF-8E31-C77E5787C14A}"/>
              </a:ext>
            </a:extLst>
          </p:cNvPr>
          <p:cNvSpPr>
            <a:spLocks noGrp="1"/>
          </p:cNvSpPr>
          <p:nvPr/>
        </p:nvSpPr>
        <p:spPr>
          <a:xfrm>
            <a:off x="6858000" y="5086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右侧占位可替换为你的真实作品截图；当前 PPT 中占位框仍可编辑。</a:t>
            </a:r>
          </a:p>
        </p:txBody>
      </p:sp>
      <p:sp>
        <p:nvSpPr>
          <p:cNvPr id="44" name="footer">
            <a:extLst>
              <a:ext uri="{FF2B5EF4-FFF2-40B4-BE49-F238E27FC236}">
                <a16:creationId xmlns:a16="http://schemas.microsoft.com/office/drawing/2014/main" id="{D3C87D37-2741-49ED-B440-A539DD45058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168381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op-red-line">
            <a:extLst>
              <a:ext uri="{FF2B5EF4-FFF2-40B4-BE49-F238E27FC236}">
                <a16:creationId xmlns:a16="http://schemas.microsoft.com/office/drawing/2014/main" id="{399D9FF1-0795-4605-B1FD-9EDC67CFEE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4785360A-C0BB-4710-A116-964C249E5BB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797B3A2-B8B0-40EF-90AF-2D35248F7D3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AI 获取渠道与知识管理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B4D97F1E-4925-40E7-AA41-2ABFDA49BC22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09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0F344F1B-C6B5-495B-A026-DE4C4C94F3F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4F81E1B-ECA2-4A2D-B40E-A686206EE954}"/>
              </a:ext>
            </a:extLst>
          </p:cNvPr>
          <p:cNvSpPr>
            <a:spLocks noGrp="1"/>
          </p:cNvSpPr>
          <p:nvPr/>
        </p:nvSpPr>
        <p:spPr>
          <a:xfrm>
            <a:off x="4286250" y="1447800"/>
            <a:ext cx="3619500" cy="552450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34D75F-78EE-4A39-98AA-4F4AD15F946B}"/>
              </a:ext>
            </a:extLst>
          </p:cNvPr>
          <p:cNvSpPr>
            <a:spLocks noGrp="1"/>
          </p:cNvSpPr>
          <p:nvPr/>
        </p:nvSpPr>
        <p:spPr>
          <a:xfrm>
            <a:off x="4286250" y="1628775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信息源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98C7DCA-6F73-41D3-9828-4BA300576EB1}"/>
              </a:ext>
            </a:extLst>
          </p:cNvPr>
          <p:cNvSpPr>
            <a:spLocks noGrp="1"/>
          </p:cNvSpPr>
          <p:nvPr/>
        </p:nvSpPr>
        <p:spPr>
          <a:xfrm>
            <a:off x="4629150" y="220980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C7000B">
              <a:alpha val="12549"/>
            </a:srgbClr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3B337D-C0C8-4197-9F0E-9F890C189E9A}"/>
              </a:ext>
            </a:extLst>
          </p:cNvPr>
          <p:cNvSpPr>
            <a:spLocks noGrp="1"/>
          </p:cNvSpPr>
          <p:nvPr/>
        </p:nvSpPr>
        <p:spPr>
          <a:xfrm>
            <a:off x="4629150" y="2371725"/>
            <a:ext cx="2933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筛选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6E4B734-1E2D-46F2-8C37-C8F301B58271}"/>
              </a:ext>
            </a:extLst>
          </p:cNvPr>
          <p:cNvSpPr>
            <a:spLocks noGrp="1"/>
          </p:cNvSpPr>
          <p:nvPr/>
        </p:nvSpPr>
        <p:spPr>
          <a:xfrm>
            <a:off x="4953000" y="29337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2F68C5">
              <a:alpha val="12549"/>
            </a:srgbClr>
          </a:solidFill>
          <a:ln w="9525">
            <a:solidFill>
              <a:srgbClr val="2F68C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986FE1-F5DB-445E-9CE9-D3334B879819}"/>
              </a:ext>
            </a:extLst>
          </p:cNvPr>
          <p:cNvSpPr>
            <a:spLocks noGrp="1"/>
          </p:cNvSpPr>
          <p:nvPr/>
        </p:nvSpPr>
        <p:spPr>
          <a:xfrm>
            <a:off x="4953000" y="30765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2F68C5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F68C5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实测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756A578-5505-4D63-A314-892B086E722B}"/>
              </a:ext>
            </a:extLst>
          </p:cNvPr>
          <p:cNvSpPr>
            <a:spLocks noGrp="1"/>
          </p:cNvSpPr>
          <p:nvPr/>
        </p:nvSpPr>
        <p:spPr>
          <a:xfrm>
            <a:off x="5238750" y="3600450"/>
            <a:ext cx="1714500" cy="457200"/>
          </a:xfrm>
          <a:prstGeom prst="roundRect">
            <a:avLst>
              <a:gd name="adj" fmla="val 16667"/>
            </a:avLst>
          </a:prstGeom>
          <a:solidFill>
            <a:srgbClr val="0F8A5F">
              <a:alpha val="12549"/>
            </a:srgbClr>
          </a:solidFill>
          <a:ln w="9525">
            <a:solidFill>
              <a:srgbClr val="0F8A5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DEA030-6A06-4C8D-B0EE-CDC480CA4C62}"/>
              </a:ext>
            </a:extLst>
          </p:cNvPr>
          <p:cNvSpPr>
            <a:spLocks noGrp="1"/>
          </p:cNvSpPr>
          <p:nvPr/>
        </p:nvSpPr>
        <p:spPr>
          <a:xfrm>
            <a:off x="5238750" y="37338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0F8A5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总结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EC51A25-9F8A-4034-AB4A-A37847458DC7}"/>
              </a:ext>
            </a:extLst>
          </p:cNvPr>
          <p:cNvSpPr>
            <a:spLocks noGrp="1"/>
          </p:cNvSpPr>
          <p:nvPr/>
        </p:nvSpPr>
        <p:spPr>
          <a:xfrm>
            <a:off x="5467350" y="4248150"/>
            <a:ext cx="1257300" cy="438150"/>
          </a:xfrm>
          <a:prstGeom prst="roundRect">
            <a:avLst>
              <a:gd name="adj" fmla="val 17391"/>
            </a:avLst>
          </a:prstGeom>
          <a:solidFill>
            <a:srgbClr val="B75E00">
              <a:alpha val="12549"/>
            </a:srgbClr>
          </a:solidFill>
          <a:ln w="9525">
            <a:solidFill>
              <a:srgbClr val="B75E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68A72E-9E31-4F89-9E8F-BB15B6DFB687}"/>
              </a:ext>
            </a:extLst>
          </p:cNvPr>
          <p:cNvSpPr>
            <a:spLocks noGrp="1"/>
          </p:cNvSpPr>
          <p:nvPr/>
        </p:nvSpPr>
        <p:spPr>
          <a:xfrm>
            <a:off x="5467350" y="4371975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B75E00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模板化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FA2E51F3-B6E2-42B1-88CE-517F05221E06}"/>
              </a:ext>
            </a:extLst>
          </p:cNvPr>
          <p:cNvSpPr>
            <a:spLocks noGrp="1"/>
          </p:cNvSpPr>
          <p:nvPr/>
        </p:nvSpPr>
        <p:spPr>
          <a:xfrm>
            <a:off x="5657850" y="4876800"/>
            <a:ext cx="876300" cy="419100"/>
          </a:xfrm>
          <a:prstGeom prst="roundRect">
            <a:avLst>
              <a:gd name="adj" fmla="val 18182"/>
            </a:avLst>
          </a:prstGeom>
          <a:solidFill>
            <a:srgbClr val="2B2F33">
              <a:alpha val="12549"/>
            </a:srgbClr>
          </a:solidFill>
          <a:ln w="9525">
            <a:solidFill>
              <a:srgbClr val="2B2F3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00898F-C521-499A-94AF-7A265B509D5C}"/>
              </a:ext>
            </a:extLst>
          </p:cNvPr>
          <p:cNvSpPr>
            <a:spLocks noGrp="1"/>
          </p:cNvSpPr>
          <p:nvPr/>
        </p:nvSpPr>
        <p:spPr>
          <a:xfrm>
            <a:off x="5657850" y="49911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复用</a:t>
            </a:r>
          </a:p>
        </p:txBody>
      </p:sp>
      <p:sp>
        <p:nvSpPr>
          <p:cNvPr id="18" name="建议关注">
            <a:extLst>
              <a:ext uri="{FF2B5EF4-FFF2-40B4-BE49-F238E27FC236}">
                <a16:creationId xmlns:a16="http://schemas.microsoft.com/office/drawing/2014/main" id="{F3BA045F-AC65-4BAD-BC3F-1617AEC40E16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2647950" cy="1638300"/>
          </a:xfrm>
          <a:prstGeom prst="roundRect">
            <a:avLst>
              <a:gd name="adj" fmla="val 3488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5EFBF0-3801-4355-8677-7DE660093D0E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建议关注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C195AD-0678-4556-8E59-58AD306507D6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23812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官方文档和产品更新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高质量实测案例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团队内部经验沉淀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可复用 Prompt 和流程</a:t>
            </a:r>
          </a:p>
        </p:txBody>
      </p:sp>
      <p:sp>
        <p:nvSpPr>
          <p:cNvPr id="21" name="避免误区">
            <a:extLst>
              <a:ext uri="{FF2B5EF4-FFF2-40B4-BE49-F238E27FC236}">
                <a16:creationId xmlns:a16="http://schemas.microsoft.com/office/drawing/2014/main" id="{1878A2FA-B59E-4BC8-ADD7-5E444927B98F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264795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167687-6B73-4BC0-AE40-78B1A27C61A3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避免误区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F8AB7E-0DC2-465D-9764-64F3017803BE}"/>
              </a:ext>
            </a:extLst>
          </p:cNvPr>
          <p:cNvSpPr>
            <a:spLocks noGrp="1"/>
          </p:cNvSpPr>
          <p:nvPr/>
        </p:nvSpPr>
        <p:spPr>
          <a:xfrm>
            <a:off x="1047750" y="4038600"/>
            <a:ext cx="23812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每天追热点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收藏但不实践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只看结论不看限制条件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把临时经验当通用方案</a:t>
            </a:r>
          </a:p>
        </p:txBody>
      </p:sp>
      <p:sp>
        <p:nvSpPr>
          <p:cNvPr id="24" name="个人知识库结构">
            <a:extLst>
              <a:ext uri="{FF2B5EF4-FFF2-40B4-BE49-F238E27FC236}">
                <a16:creationId xmlns:a16="http://schemas.microsoft.com/office/drawing/2014/main" id="{FB4B75E1-6B08-4CCE-9217-3E0FBC75FA16}"/>
              </a:ext>
            </a:extLst>
          </p:cNvPr>
          <p:cNvSpPr>
            <a:spLocks noGrp="1"/>
          </p:cNvSpPr>
          <p:nvPr/>
        </p:nvSpPr>
        <p:spPr>
          <a:xfrm>
            <a:off x="8629650" y="1752600"/>
            <a:ext cx="2362200" cy="1866900"/>
          </a:xfrm>
          <a:prstGeom prst="roundRect">
            <a:avLst>
              <a:gd name="adj" fmla="val 3061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80001D-6FE1-47D8-A33A-3028EE7C3388}"/>
              </a:ext>
            </a:extLst>
          </p:cNvPr>
          <p:cNvSpPr>
            <a:spLocks noGrp="1"/>
          </p:cNvSpPr>
          <p:nvPr/>
        </p:nvSpPr>
        <p:spPr>
          <a:xfrm>
            <a:off x="8763000" y="18669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个人知识库结构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0678C2-8A58-4BA5-AD2F-DE325D12DC13}"/>
              </a:ext>
            </a:extLst>
          </p:cNvPr>
          <p:cNvSpPr>
            <a:spLocks noGrp="1"/>
          </p:cNvSpPr>
          <p:nvPr/>
        </p:nvSpPr>
        <p:spPr>
          <a:xfrm>
            <a:off x="8763000" y="2152650"/>
            <a:ext cx="20955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工具清单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提示词模板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场景案例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踩坑记录</a:t>
            </a:r>
          </a:p>
          <a:p>
            <a:pPr algn="l">
              <a:lnSpc>
                <a:spcPct val="110000"/>
              </a:lnSpc>
              <a:buNone/>
              <a:def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最佳实践</a:t>
            </a:r>
          </a:p>
        </p:txBody>
      </p:sp>
      <p:sp>
        <p:nvSpPr>
          <p:cNvPr id="27" name="沉淀标准">
            <a:extLst>
              <a:ext uri="{FF2B5EF4-FFF2-40B4-BE49-F238E27FC236}">
                <a16:creationId xmlns:a16="http://schemas.microsoft.com/office/drawing/2014/main" id="{230CA3DF-368D-493E-B212-8FF5FA4804C3}"/>
              </a:ext>
            </a:extLst>
          </p:cNvPr>
          <p:cNvSpPr>
            <a:spLocks noGrp="1"/>
          </p:cNvSpPr>
          <p:nvPr/>
        </p:nvSpPr>
        <p:spPr>
          <a:xfrm>
            <a:off x="8629650" y="4038600"/>
            <a:ext cx="2362200" cy="876300"/>
          </a:xfrm>
          <a:prstGeom prst="roundRect">
            <a:avLst>
              <a:gd name="adj" fmla="val 6522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48D4BA0-AFB7-4E90-B780-12378052DAD4}"/>
              </a:ext>
            </a:extLst>
          </p:cNvPr>
          <p:cNvSpPr>
            <a:spLocks noGrp="1"/>
          </p:cNvSpPr>
          <p:nvPr/>
        </p:nvSpPr>
        <p:spPr>
          <a:xfrm>
            <a:off x="8763000" y="41529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沉淀标准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08A7AF-205C-4A3B-A34C-CF2C2691E18B}"/>
              </a:ext>
            </a:extLst>
          </p:cNvPr>
          <p:cNvSpPr>
            <a:spLocks noGrp="1"/>
          </p:cNvSpPr>
          <p:nvPr/>
        </p:nvSpPr>
        <p:spPr>
          <a:xfrm>
            <a:off x="8763000" y="44386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3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38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下次工作能直接复用，才算真正进入知识管理。</a:t>
            </a:r>
          </a:p>
        </p:txBody>
      </p:sp>
      <p:sp>
        <p:nvSpPr>
          <p:cNvPr id="30" name="footer">
            <a:extLst>
              <a:ext uri="{FF2B5EF4-FFF2-40B4-BE49-F238E27FC236}">
                <a16:creationId xmlns:a16="http://schemas.microsoft.com/office/drawing/2014/main" id="{CEFE3B0B-A7A4-4851-B641-CDD88A12C6C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内部分享材料 | 可按部门场景继续细化</a:t>
            </a:r>
          </a:p>
        </p:txBody>
      </p:sp>
    </p:spTree>
    <p:extLst>
      <p:ext uri="{BB962C8B-B14F-4D97-AF65-F5344CB8AC3E}">
        <p14:creationId xmlns:p14="http://schemas.microsoft.com/office/powerpoint/2010/main" val="1394824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op-red-line">
            <a:extLst>
              <a:ext uri="{FF2B5EF4-FFF2-40B4-BE49-F238E27FC236}">
                <a16:creationId xmlns:a16="http://schemas.microsoft.com/office/drawing/2014/main" id="{FB4F4D65-FA68-4969-A4DB-970A557AEC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5CDF0E1E-AEF3-426C-B94B-9A74547E5E0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00" b="1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Agent 原理科普 + AI 工具使用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6CAE120-7B58-43C0-A039-9AC94C77AA5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2250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AI First 的提效逻辑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EA6CF887-995A-47DD-9CFF-46C9121E31E3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r">
              <a:def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350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10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221D36FF-56C5-44F6-9855-7474F241EFF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38225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</p:sp>
      <p:sp>
        <p:nvSpPr>
          <p:cNvPr id="6" name="表达更快">
            <a:extLst>
              <a:ext uri="{FF2B5EF4-FFF2-40B4-BE49-F238E27FC236}">
                <a16:creationId xmlns:a16="http://schemas.microsoft.com/office/drawing/2014/main" id="{A6D0972E-D864-47B6-ACDF-AD2BC03D6891}"/>
              </a:ext>
            </a:extLst>
          </p:cNvPr>
          <p:cNvSpPr>
            <a:spLocks noGrp="1"/>
          </p:cNvSpPr>
          <p:nvPr/>
        </p:nvSpPr>
        <p:spPr>
          <a:xfrm>
            <a:off x="3733800" y="1428750"/>
            <a:ext cx="1238250" cy="533400"/>
          </a:xfrm>
          <a:prstGeom prst="roundRect">
            <a:avLst>
              <a:gd name="adj" fmla="val 10714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F4CA90-BA9E-4B48-A7F9-1FF3DF1DE2C2}"/>
              </a:ext>
            </a:extLst>
          </p:cNvPr>
          <p:cNvSpPr>
            <a:spLocks noGrp="1"/>
          </p:cNvSpPr>
          <p:nvPr/>
        </p:nvSpPr>
        <p:spPr>
          <a:xfrm>
            <a:off x="3867150" y="1543050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表达更快</a:t>
            </a:r>
          </a:p>
        </p:txBody>
      </p:sp>
      <p:sp>
        <p:nvSpPr>
          <p:cNvPr id="8" name="草稿更快">
            <a:extLst>
              <a:ext uri="{FF2B5EF4-FFF2-40B4-BE49-F238E27FC236}">
                <a16:creationId xmlns:a16="http://schemas.microsoft.com/office/drawing/2014/main" id="{43447B75-90E6-45CA-BE14-241C5682FDC1}"/>
              </a:ext>
            </a:extLst>
          </p:cNvPr>
          <p:cNvSpPr>
            <a:spLocks noGrp="1"/>
          </p:cNvSpPr>
          <p:nvPr/>
        </p:nvSpPr>
        <p:spPr>
          <a:xfrm>
            <a:off x="5848350" y="2266950"/>
            <a:ext cx="1238250" cy="533400"/>
          </a:xfrm>
          <a:prstGeom prst="roundRect">
            <a:avLst>
              <a:gd name="adj" fmla="val 10714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A28B2A-E944-443C-8C74-C092763F5029}"/>
              </a:ext>
            </a:extLst>
          </p:cNvPr>
          <p:cNvSpPr>
            <a:spLocks noGrp="1"/>
          </p:cNvSpPr>
          <p:nvPr/>
        </p:nvSpPr>
        <p:spPr>
          <a:xfrm>
            <a:off x="5981700" y="2381250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草稿更快</a:t>
            </a:r>
          </a:p>
        </p:txBody>
      </p:sp>
      <p:sp>
        <p:nvSpPr>
          <p:cNvPr id="10" name="验证更快">
            <a:extLst>
              <a:ext uri="{FF2B5EF4-FFF2-40B4-BE49-F238E27FC236}">
                <a16:creationId xmlns:a16="http://schemas.microsoft.com/office/drawing/2014/main" id="{693FABAD-BE69-47A6-BA87-CA42F11E238D}"/>
              </a:ext>
            </a:extLst>
          </p:cNvPr>
          <p:cNvSpPr>
            <a:spLocks noGrp="1"/>
          </p:cNvSpPr>
          <p:nvPr/>
        </p:nvSpPr>
        <p:spPr>
          <a:xfrm>
            <a:off x="5429250" y="4438650"/>
            <a:ext cx="1238250" cy="533400"/>
          </a:xfrm>
          <a:prstGeom prst="roundRect">
            <a:avLst>
              <a:gd name="adj" fmla="val 10714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3BE174-0C5B-430B-AA8F-883FC228E053}"/>
              </a:ext>
            </a:extLst>
          </p:cNvPr>
          <p:cNvSpPr>
            <a:spLocks noGrp="1"/>
          </p:cNvSpPr>
          <p:nvPr/>
        </p:nvSpPr>
        <p:spPr>
          <a:xfrm>
            <a:off x="5562600" y="4552950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验证更快</a:t>
            </a:r>
          </a:p>
        </p:txBody>
      </p:sp>
      <p:sp>
        <p:nvSpPr>
          <p:cNvPr id="12" name="迭代更快">
            <a:extLst>
              <a:ext uri="{FF2B5EF4-FFF2-40B4-BE49-F238E27FC236}">
                <a16:creationId xmlns:a16="http://schemas.microsoft.com/office/drawing/2014/main" id="{E29F6156-3AE0-4594-89CF-FF6209F2D33F}"/>
              </a:ext>
            </a:extLst>
          </p:cNvPr>
          <p:cNvSpPr>
            <a:spLocks noGrp="1"/>
          </p:cNvSpPr>
          <p:nvPr/>
        </p:nvSpPr>
        <p:spPr>
          <a:xfrm>
            <a:off x="2076450" y="4438650"/>
            <a:ext cx="1238250" cy="533400"/>
          </a:xfrm>
          <a:prstGeom prst="roundRect">
            <a:avLst>
              <a:gd name="adj" fmla="val 10714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0CF767-0911-453F-B10F-F6AE9351E80A}"/>
              </a:ext>
            </a:extLst>
          </p:cNvPr>
          <p:cNvSpPr>
            <a:spLocks noGrp="1"/>
          </p:cNvSpPr>
          <p:nvPr/>
        </p:nvSpPr>
        <p:spPr>
          <a:xfrm>
            <a:off x="2209800" y="4552950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迭代更快</a:t>
            </a:r>
          </a:p>
        </p:txBody>
      </p:sp>
      <p:sp>
        <p:nvSpPr>
          <p:cNvPr id="14" name="经验沉淀">
            <a:extLst>
              <a:ext uri="{FF2B5EF4-FFF2-40B4-BE49-F238E27FC236}">
                <a16:creationId xmlns:a16="http://schemas.microsoft.com/office/drawing/2014/main" id="{BBDE2B9F-AD8E-4565-A3CF-D45828C833B6}"/>
              </a:ext>
            </a:extLst>
          </p:cNvPr>
          <p:cNvSpPr>
            <a:spLocks noGrp="1"/>
          </p:cNvSpPr>
          <p:nvPr/>
        </p:nvSpPr>
        <p:spPr>
          <a:xfrm>
            <a:off x="1676400" y="2266950"/>
            <a:ext cx="1238250" cy="533400"/>
          </a:xfrm>
          <a:prstGeom prst="roundRect">
            <a:avLst>
              <a:gd name="adj" fmla="val 10714"/>
            </a:avLst>
          </a:prstGeom>
          <a:solidFill>
            <a:srgbClr val="F5F6F7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B01005-B012-4837-B09F-1E73791D7DC2}"/>
              </a:ext>
            </a:extLst>
          </p:cNvPr>
          <p:cNvSpPr>
            <a:spLocks noGrp="1"/>
          </p:cNvSpPr>
          <p:nvPr/>
        </p:nvSpPr>
        <p:spPr>
          <a:xfrm>
            <a:off x="1809750" y="2381250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125" b="1">
                <a:solidFill>
                  <a:srgbClr val="2B2F33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经验沉淀</a:t>
            </a:r>
          </a:p>
        </p:txBody>
      </p:sp>
      <p:cxnSp>
        <p:nvCxnSpPr>
          <p:cNvPr id="45" name="曲线连接符 44"/>
          <p:cNvCxnSpPr>
            <a:stCxn id="6" idx="3"/>
            <a:endCxn id="8" idx="1"/>
          </p:cNvCxnSpPr>
          <p:nvPr/>
        </p:nvCxnSpPr>
        <p:spPr>
          <a:xfrm rot="16200000" flipH="1">
            <a:off x="4991100" y="1676400"/>
            <a:ext cx="838200" cy="876300"/>
          </a:xfrm>
          <a:prstGeom prst="curvedConnector3">
            <a:avLst>
              <a:gd name="adj1" fmla="val 50000"/>
            </a:avLst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46" name="曲线连接符 45"/>
          <p:cNvCxnSpPr>
            <a:stCxn id="8" idx="3"/>
            <a:endCxn id="10" idx="1"/>
          </p:cNvCxnSpPr>
          <p:nvPr/>
        </p:nvCxnSpPr>
        <p:spPr>
          <a:xfrm flipH="1">
            <a:off x="5200650" y="2533650"/>
            <a:ext cx="2114550" cy="2171700"/>
          </a:xfrm>
          <a:prstGeom prst="curvedConnector4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47" name="曲线连接符 46"/>
          <p:cNvCxnSpPr>
            <a:stCxn id="10" idx="3"/>
            <a:endCxn id="12" idx="1"/>
          </p:cNvCxnSpPr>
          <p:nvPr/>
        </p:nvCxnSpPr>
        <p:spPr>
          <a:xfrm flipH="1">
            <a:off x="1847850" y="4705350"/>
            <a:ext cx="5048250" cy="381000"/>
          </a:xfrm>
          <a:prstGeom prst="curvedConnector4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48" name="曲线连接符 47"/>
          <p:cNvCxnSpPr>
            <a:stCxn id="12" idx="3"/>
            <a:endCxn id="14" idx="1"/>
          </p:cNvCxnSpPr>
          <p:nvPr/>
        </p:nvCxnSpPr>
        <p:spPr>
          <a:xfrm flipH="1" flipV="1">
            <a:off x="1447800" y="2533650"/>
            <a:ext cx="2095500" cy="2171700"/>
          </a:xfrm>
          <a:prstGeom prst="curvedConnector4">
            <a:avLst/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cxnSp>
        <p:nvCxnSpPr>
          <p:cNvPr id="49" name="曲线连接符 48"/>
          <p:cNvCxnSpPr>
            <a:stCxn id="14" idx="3"/>
            <a:endCxn id="6" idx="1"/>
          </p:cNvCxnSpPr>
          <p:nvPr/>
        </p:nvCxnSpPr>
        <p:spPr>
          <a:xfrm rot="5400000">
            <a:off x="2905125" y="1704975"/>
            <a:ext cx="838200" cy="819150"/>
          </a:xfrm>
          <a:prstGeom prst="curvedConnector3">
            <a:avLst>
              <a:gd name="adj1" fmla="val 50000"/>
            </a:avLst>
          </a:prstGeom>
          <a:ln w="15240">
            <a:solidFill>
              <a:srgbClr val="C7000B"/>
            </a:solidFill>
            <a:prstDash val="solid"/>
            <a:tailEnd type="arrow" w="sm" len="sm"/>
          </a:ln>
        </p:spPr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4577C5F4-4E79-48FA-85D3-49D9CB7FB1CA}"/>
              </a:ext>
            </a:extLst>
          </p:cNvPr>
          <p:cNvSpPr>
            <a:spLocks noGrp="1"/>
          </p:cNvSpPr>
          <p:nvPr/>
        </p:nvSpPr>
        <p:spPr>
          <a:xfrm>
            <a:off x="3067050" y="2781300"/>
            <a:ext cx="1562100" cy="876300"/>
          </a:xfrm>
          <a:prstGeom prst="ellipse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D3B870-E078-4CA1-82E5-4FB24D564C02}"/>
              </a:ext>
            </a:extLst>
          </p:cNvPr>
          <p:cNvSpPr>
            <a:spLocks noGrp="1"/>
          </p:cNvSpPr>
          <p:nvPr/>
        </p:nvSpPr>
        <p:spPr>
          <a:xfrm>
            <a:off x="3295650" y="300990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1650" b="1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650" b="1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AI First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213A379-C24B-41B7-8D33-9426A01F4BF7}"/>
              </a:ext>
            </a:extLst>
          </p:cNvPr>
          <p:cNvSpPr>
            <a:spLocks noGrp="1"/>
          </p:cNvSpPr>
          <p:nvPr/>
        </p:nvSpPr>
        <p:spPr>
          <a:xfrm>
            <a:off x="3162300" y="3314700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defRPr sz="788" b="0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88" b="0">
                <a:solidFill>
                  <a:srgbClr val="FFFFFF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先识别可放大的环节</a:t>
            </a:r>
          </a:p>
        </p:txBody>
      </p:sp>
      <p:graphicFrame>
        <p:nvGraphicFramePr>
          <p:cNvPr id="53" name="表格 52"/>
          <p:cNvGraphicFramePr/>
          <p:nvPr/>
        </p:nvGraphicFramePr>
        <p:xfrm>
          <a:off x="7810500" y="1581150"/>
          <a:ext cx="3028950" cy="20002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工作前先问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判断点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资料整理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有没有大量信息要读？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初稿生成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有没有文档或方案初稿？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检查对比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有没有一致性、边界或差异？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重复执行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solidFill>
                            <a:srgbClr val="2B2F33"/>
                          </a:solidFill>
                          <a:latin typeface="&quot;PingFang SC&quot;, &quot;Microsoft YaHei&quot;, Arial, sans-serif"/>
                          <a:ea typeface="&quot;PingFang SC&quot;, &quot;Microsoft YaHei&quot;, Arial, sans-serif"/>
                          <a:cs typeface="&quot;PingFang SC&quot;, &quot;Microsoft YaHei&quot;, Arial, sans-serif"/>
                        </a:rPr>
                        <a:t>有没有固定步骤反复做？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落地原则">
            <a:extLst>
              <a:ext uri="{FF2B5EF4-FFF2-40B4-BE49-F238E27FC236}">
                <a16:creationId xmlns:a16="http://schemas.microsoft.com/office/drawing/2014/main" id="{1599445B-0C56-4DAD-8F2D-899AFABBA0D1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3028950" cy="1314450"/>
          </a:xfrm>
          <a:prstGeom prst="roundRect">
            <a:avLst>
              <a:gd name="adj" fmla="val 4348"/>
            </a:avLst>
          </a:prstGeom>
          <a:solidFill>
            <a:srgbClr val="FBE7E8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0D108A4-E6F5-451D-B7EA-59E41E439046}"/>
              </a:ext>
            </a:extLst>
          </p:cNvPr>
          <p:cNvSpPr>
            <a:spLocks noGrp="1"/>
          </p:cNvSpPr>
          <p:nvPr/>
        </p:nvSpPr>
        <p:spPr>
          <a:xfrm>
            <a:off x="7943850" y="41148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落地原则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5458554-9837-4405-9AE1-55CA03C10921}"/>
              </a:ext>
            </a:extLst>
          </p:cNvPr>
          <p:cNvSpPr>
            <a:spLocks noGrp="1"/>
          </p:cNvSpPr>
          <p:nvPr/>
        </p:nvSpPr>
        <p:spPr>
          <a:xfrm>
            <a:off x="7943850" y="4400550"/>
            <a:ext cx="2762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低风险先用</a:t>
            </a:r>
          </a:p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高频任务先用</a:t>
            </a:r>
          </a:p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可验收任务先用</a:t>
            </a:r>
          </a:p>
          <a:p>
            <a:pPr algn="l">
              <a:lnSpc>
                <a:spcPct val="110000"/>
              </a:lnSpc>
              <a:buNone/>
              <a:def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975" b="0">
                <a:solidFill>
                  <a:srgbClr val="5A626D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敏感数据谨慎用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13E38D-F00D-4480-8D60-C9C1A08302F7}"/>
              </a:ext>
            </a:extLst>
          </p:cNvPr>
          <p:cNvSpPr>
            <a:spLocks noGrp="1"/>
          </p:cNvSpPr>
          <p:nvPr/>
        </p:nvSpPr>
        <p:spPr>
          <a:xfrm>
            <a:off x="914400" y="58293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1275" b="1">
                <a:solidFill>
                  <a:srgbClr val="C7000B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AI First 不是把所有事情交给 AI，而是先让 AI 跑一版，人再判断、修改和确认。</a:t>
            </a:r>
          </a:p>
        </p:txBody>
      </p:sp>
      <p:sp>
        <p:nvSpPr>
          <p:cNvPr id="29" name="footer">
            <a:extLst>
              <a:ext uri="{FF2B5EF4-FFF2-40B4-BE49-F238E27FC236}">
                <a16:creationId xmlns:a16="http://schemas.microsoft.com/office/drawing/2014/main" id="{92E9CA93-EF66-4BB8-9AD2-3CF5A21A621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l">
              <a:def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defRPr>
            </a:pPr>
            <a:r>
              <a:rPr sz="750" b="0">
                <a:solidFill>
                  <a:srgbClr val="8A8F98"/>
                </a:solidFill>
                <a:latin typeface="&quot;PingFang SC&quot;, &quot;Microsoft YaHei&quot;, Arial, sans-serif"/>
                <a:ea typeface="&quot;PingFang SC&quot;, &quot;Microsoft YaHei&quot;, Arial, sans-serif"/>
                <a:cs typeface="&quot;PingFang SC&quot;, &quot;Microsoft YaHei&quot;, Arial, sans-serif"/>
              </a:rPr>
              <a:t>结束页 | 建议现场留 5 分钟讨论：哪些部门工作最适合先试点？</a:t>
            </a:r>
          </a:p>
        </p:txBody>
      </p:sp>
    </p:spTree>
    <p:extLst>
      <p:ext uri="{BB962C8B-B14F-4D97-AF65-F5344CB8AC3E}">
        <p14:creationId xmlns:p14="http://schemas.microsoft.com/office/powerpoint/2010/main" val="16350324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658</Words>
  <Application>Microsoft Macintosh PowerPoint</Application>
  <DocSecurity>0</DocSecurity>
  <PresentationFormat>宽屏</PresentationFormat>
  <Paragraphs>280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"PingFang SC", "Microsoft YaHei", Arial, sans-serif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2026-07-05T13:23:46Z</dcterms:created>
  <dcterms:modified xsi:type="dcterms:W3CDTF">2026-07-05T13:34:51Z</dcterms:modified>
</cp:coreProperties>
</file>